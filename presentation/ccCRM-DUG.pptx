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60" r:id="rId2"/>
    <p:sldId id="256" r:id="rId3"/>
    <p:sldId id="257" r:id="rId4"/>
    <p:sldId id="258" r:id="rId5"/>
    <p:sldId id="259"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7958CE17-DDF0-4A19-7E44-35A032E1452D}">
          <p14:sldIdLst>
            <p14:sldId id="260"/>
            <p14:sldId id="256"/>
          </p14:sldIdLst>
        </p14:section>
        <p14:section name="Wave API" id="{5C0A5ACA-E5FD-9D64-BC76-DA3BE92C0035}">
          <p14:sldIdLst>
            <p14:sldId id="257"/>
          </p14:sldIdLst>
        </p14:section>
        <p14:section name="RAD Server" id="{8E07311E-3848-D623-A37A-C1BBAC5DDE3C}">
          <p14:sldIdLst>
            <p14:sldId id="258"/>
          </p14:sldIdLst>
        </p14:section>
        <p14:section name="FireMonkey app" id="{04F7B543-56F7-8028-28B0-B25A9B30C46D}">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486" y="11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0363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 built it: I needed a small CRM for my ABS Cloud customers and others. I was using bluecamroo and didn't like it, and my customers already live in Wave, where I do my invoicing. I didn't want a second set of customer records to keep in sync by hand.
So the rule from day one: Wave is the master for names, emails, phones and addresses. ccCRM keeps a copy of that and adds what Wave doesn't have: customer type and status, notes, extra contacts, a dated history log, user counts and an Active Directory group.
It's three parts, and that's how I'll walk through it tonight:
1. Pulling customers from Wave's GraphQL API, read-only.
2. A RAD Server package that does the sync and exposes REST resources over a Firebird 5 database.
3. A FireMonkey app on my Android phone that talks only to RAD Server.
Numbers: 82 customers in Wave. The first working sync was October 11, and the app was working on my phone by October 20. It's on GitHub, open source; clone it if it's useful to you.
(Optional: I built it pair-programming with Claude Code as an AI assistant. Happy to talk about how that went in Q&amp;A.)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Wave's API is GraphQL only. There's one endpoint, gql.waveapps.com/graphql/public. A lot of what you find online describes an old REST API; ignore it. I confirmed the endpoint with an unauthenticated probe before writing any code.
Authentication: for a personal, internal tool a Full Access token is enough, and as far as I can tell it doesn't need Wave Pro. OAuth is for published apps. That token can read and write my whole Wave business, so it lives only on the server, in an ini file that's git-ignored. The phone never sees it.
The client is deliberately read-only: TWaveClient in ccCRM.WaveClient.pas only sends queries, there's not a single mutation in the code. It's just THTTPClient and System.JSON, paging with page and pageSize until pageInfo says we're done.
Wave has no customer webhooks, so the sync polls: nightly plus a "Sync now" button in the app. Each customer is upserted with Firebird's UPDATE OR INSERT ... MATCHING (WAVE_ID), listing only the Wave-owned columns, so my own columns survive. Anyone not seen in a run gets IN_WAVE = false; the sync never deletes anything. With 82 customers we're nowhere near the rate limit of 60 requests a minute.
I first built this as a console app (ccCRMSync with --businesses and --dry-run), which made it easy to test before any server existed.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middle layer is a RAD Server (EMS) package running on one of my ABS Cloud servers, with a Firebird 5 database behind it.
The nice part: the data module and the Wave client are shared units. The console sync tool and the RAD Server package use exactly the same code, so once the sync worked from the command line, the server's "sync now" resource was mostly wiring.
RAD Server creates a resource instance per request. Each one creates its own data module, which borrows a pooled FireDAC connection (a named pool definition, 25 connections max) and returns it when the request ends.
A convention I stuck to: SQL goes in TFDQuery components on the data module, not in string constants. The resource methods just set parameters and turn the dataset into JSON.
Six resources: customers (search, detail, edit, and delete for records gone from Wave), contacts, customerlog, lookups, emails and sync. The emails resource takes exactly the same filter as the customer list, so "Active plus ABS Cloud" gives me a BCC list for just those customers.
The history log is done in the database: Firebird triggers call a LOG_CHANGE procedure that writes "Status: Active -&gt; Inactive" style entries. It fires no matter where the change came from: the app, the sync, or me in DBeaver.
Lesson learned: when you change the server, rebuild and redeploy the .bpl and restart RAD Server. I rebuilt only the app once and spent a while wondering why the filter didn't work.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is a FireMonkey app. It runs on my Android phone, and the same code builds for Windows, which is handy for debugging. It only talks to RAD Server: no Wave token, no database connection on the phone.
Navigation is built on TFrameStand. The customer list is the permanent base page; detail, edit, log, contacts, emails and settings are frames stood on top of it. Back on the toolbar or the Android back key closes the top one. One gotcha: frames have no background, so I hide the pages underneath or they show (and take taps) through.
Every server call goes through a little TAsync.Run&lt;T&gt; helper: the blocking REST call runs on a pool thread, and the result is delivered on the UI thread, but only if the frame is still alive. If you back out of a page mid-request, nothing crashes.
Icons are Google Material paths drawn in a TPath, so they're sharp at any density and take their colour from the style's text colour. No image lists per resolution.
Phone features: icon buttons on a row call, email or open the website (tapping the row itself does nothing, so no accidental calls). Search waits for a pause in typing. And my most common task: filter to Active + ABS Cloud, tap Email, and get a BCC list for exactly those customers.
Recent polish: black section headers that are easier to read on the phone, plus Info and Refresh buttons. Lessons: use https on Android (cleartext http is blocked), and turn on the Internet permission.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822960"/>
            <a:ext cx="10515600" cy="137160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r>
              <a:rPr lang="en-US" sz="4400" b="1" dirty="0">
                <a:solidFill>
                  <a:schemeClr val="bg1"/>
                </a:solidFill>
                <a:latin typeface="Cambria" pitchFamily="34" charset="0"/>
                <a:ea typeface="Cambria" pitchFamily="34" charset="-122"/>
                <a:cs typeface="Cambria" pitchFamily="34" charset="-120"/>
              </a:rPr>
              <a:t>Title</a:t>
            </a:r>
            <a:endParaRPr lang="en-US" sz="4400" dirty="0"/>
          </a:p>
        </p:txBody>
      </p:sp>
      <p:sp>
        <p:nvSpPr>
          <p:cNvPr id="3" name="Text 0"/>
          <p:cNvSpPr>
            <a:spLocks noGrp="1"/>
          </p:cNvSpPr>
          <p:nvPr>
            <p:ph type="body" idx="101" hasCustomPrompt="1"/>
          </p:nvPr>
        </p:nvSpPr>
        <p:spPr>
          <a:xfrm>
            <a:off x="548640" y="2148840"/>
            <a:ext cx="10515600" cy="548640"/>
          </a:xfrm>
          <a:prstGeom prst="rect">
            <a:avLst/>
          </a:prstGeom>
          <a:noFill/>
          <a:ln/>
        </p:spPr>
        <p:txBody>
          <a:bodyPr wrap="square" rtlCol="0"/>
          <a:lstStyle>
            <a:lvl1pPr marL="0" indent="0" algn="l">
              <a:buNone/>
              <a:defRPr lang="en-US" sz="2000" dirty="0">
                <a:solidFill>
                  <a:srgbClr val="C9D1DA"/>
                </a:solidFill>
                <a:latin typeface="Calibri" pitchFamily="34" charset="0"/>
                <a:ea typeface="Calibri" pitchFamily="34" charset="-122"/>
                <a:cs typeface="Calibri" pitchFamily="34" charset="-120"/>
              </a:defRPr>
            </a:lvl1pPr>
          </a:lstStyle>
          <a:p>
            <a:pPr marL="0" indent="0" algn="l">
              <a:buNone/>
            </a:pPr>
            <a:r>
              <a:rPr lang="en-US" sz="2000" dirty="0">
                <a:solidFill>
                  <a:srgbClr val="C9D1DA"/>
                </a:solidFill>
                <a:latin typeface="Calibri" pitchFamily="34" charset="0"/>
                <a:ea typeface="Calibri" pitchFamily="34" charset="-122"/>
                <a:cs typeface="Calibri" pitchFamily="34" charset="-120"/>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417320" y="411480"/>
            <a:ext cx="10241280" cy="777240"/>
          </a:xfrm>
          <a:prstGeom prst="rect">
            <a:avLst/>
          </a:prstGeom>
          <a:noFill/>
          <a:ln/>
        </p:spPr>
        <p:txBody>
          <a:bodyPr wrap="square" rtlCol="0"/>
          <a:lstStyle>
            <a:lvl1pPr marL="0" indent="0" algn="l">
              <a:buNone/>
              <a:defRPr lang="en-US" sz="3600" b="1" dirty="0">
                <a:solidFill>
                  <a:schemeClr val="tx1"/>
                </a:solidFill>
                <a:latin typeface="Cambria" pitchFamily="34" charset="0"/>
                <a:ea typeface="Cambria" pitchFamily="34" charset="-122"/>
                <a:cs typeface="Cambria" pitchFamily="34" charset="-120"/>
              </a:defRPr>
            </a:lvl1pPr>
          </a:lstStyle>
          <a:p>
            <a:pPr marL="0" indent="0" algn="l">
              <a:buNone/>
            </a:pPr>
            <a:r>
              <a:rPr lang="en-US" sz="3600" b="1" dirty="0">
                <a:solidFill>
                  <a:schemeClr val="tx1"/>
                </a:solidFill>
                <a:latin typeface="Cambria" pitchFamily="34" charset="0"/>
                <a:ea typeface="Cambria" pitchFamily="34" charset="-122"/>
                <a:cs typeface="Cambria" pitchFamily="34" charset="-120"/>
              </a:rPr>
              <a:t>Title</a:t>
            </a: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ccCRM  ·  Delphi user group</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github.com/corneliusdavid/ccCRM"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4.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15D06-3A94-A98F-C00C-E0FE5E6CE4E6}"/>
              </a:ext>
            </a:extLst>
          </p:cNvPr>
          <p:cNvSpPr>
            <a:spLocks noGrp="1"/>
          </p:cNvSpPr>
          <p:nvPr>
            <p:ph type="title" idx="100"/>
          </p:nvPr>
        </p:nvSpPr>
        <p:spPr>
          <a:xfrm>
            <a:off x="641252" y="674079"/>
            <a:ext cx="5152879" cy="1371600"/>
          </a:xfrm>
        </p:spPr>
        <p:txBody>
          <a:bodyPr/>
          <a:lstStyle/>
          <a:p>
            <a:r>
              <a:rPr lang="en-US" dirty="0"/>
              <a:t>A Custom CRM</a:t>
            </a:r>
          </a:p>
        </p:txBody>
      </p:sp>
      <p:sp>
        <p:nvSpPr>
          <p:cNvPr id="3" name="Text Placeholder 2">
            <a:extLst>
              <a:ext uri="{FF2B5EF4-FFF2-40B4-BE49-F238E27FC236}">
                <a16:creationId xmlns:a16="http://schemas.microsoft.com/office/drawing/2014/main" id="{90330948-FD06-A86F-3015-B13119776F62}"/>
              </a:ext>
            </a:extLst>
          </p:cNvPr>
          <p:cNvSpPr>
            <a:spLocks noGrp="1"/>
          </p:cNvSpPr>
          <p:nvPr>
            <p:ph type="body" idx="101"/>
          </p:nvPr>
        </p:nvSpPr>
        <p:spPr>
          <a:xfrm>
            <a:off x="641252" y="1635369"/>
            <a:ext cx="5390271" cy="1714500"/>
          </a:xfrm>
        </p:spPr>
        <p:txBody>
          <a:bodyPr/>
          <a:lstStyle/>
          <a:p>
            <a:r>
              <a:rPr lang="en-US" dirty="0"/>
              <a:t>Why I built my own customer relationship manager and how Claude Code put it all together.</a:t>
            </a:r>
          </a:p>
        </p:txBody>
      </p:sp>
      <p:pic>
        <p:nvPicPr>
          <p:cNvPr id="5" name="Picture 4">
            <a:extLst>
              <a:ext uri="{FF2B5EF4-FFF2-40B4-BE49-F238E27FC236}">
                <a16:creationId xmlns:a16="http://schemas.microsoft.com/office/drawing/2014/main" id="{01157F29-2DB8-A7B4-A1AE-353E8CD4A114}"/>
              </a:ext>
            </a:extLst>
          </p:cNvPr>
          <p:cNvPicPr>
            <a:picLocks noChangeAspect="1"/>
          </p:cNvPicPr>
          <p:nvPr/>
        </p:nvPicPr>
        <p:blipFill>
          <a:blip r:embed="rId2"/>
          <a:stretch>
            <a:fillRect/>
          </a:stretch>
        </p:blipFill>
        <p:spPr>
          <a:xfrm>
            <a:off x="6096000" y="372796"/>
            <a:ext cx="5848312" cy="6145823"/>
          </a:xfrm>
          <a:prstGeom prst="rect">
            <a:avLst/>
          </a:prstGeom>
        </p:spPr>
      </p:pic>
      <p:sp>
        <p:nvSpPr>
          <p:cNvPr id="6" name="Title 1">
            <a:extLst>
              <a:ext uri="{FF2B5EF4-FFF2-40B4-BE49-F238E27FC236}">
                <a16:creationId xmlns:a16="http://schemas.microsoft.com/office/drawing/2014/main" id="{865CC431-FE29-BD96-FDFD-9E9EA7A27539}"/>
              </a:ext>
            </a:extLst>
          </p:cNvPr>
          <p:cNvSpPr txBox="1">
            <a:spLocks/>
          </p:cNvSpPr>
          <p:nvPr/>
        </p:nvSpPr>
        <p:spPr>
          <a:xfrm>
            <a:off x="538087" y="5618285"/>
            <a:ext cx="5152879" cy="814753"/>
          </a:xfrm>
          <a:prstGeom prst="rect">
            <a:avLst/>
          </a:prstGeom>
          <a:noFill/>
          <a:ln/>
        </p:spPr>
        <p:txBody>
          <a:bodyPr wrap="square" rtlCol="0"/>
          <a:lstStyle>
            <a:lvl1pPr marL="0" indent="0" algn="l" defTabSz="914400" rtl="0" eaLnBrk="1" latinLnBrk="0" hangingPunct="1">
              <a:spcBef>
                <a:spcPct val="0"/>
              </a:spcBef>
              <a:buNone/>
              <a:defRPr lang="en-US" sz="4400" b="1" kern="1200" dirty="0">
                <a:solidFill>
                  <a:schemeClr val="bg1"/>
                </a:solidFill>
                <a:latin typeface="Cambria" pitchFamily="34" charset="0"/>
                <a:ea typeface="Cambria" pitchFamily="34" charset="-122"/>
                <a:cs typeface="Cambria" pitchFamily="34" charset="-120"/>
              </a:defRPr>
            </a:lvl1pPr>
          </a:lstStyle>
          <a:p>
            <a:r>
              <a:rPr lang="en-US" sz="3200" dirty="0"/>
              <a:t>ODUG, Oct 2026</a:t>
            </a:r>
          </a:p>
        </p:txBody>
      </p:sp>
    </p:spTree>
    <p:extLst>
      <p:ext uri="{BB962C8B-B14F-4D97-AF65-F5344CB8AC3E}">
        <p14:creationId xmlns:p14="http://schemas.microsoft.com/office/powerpoint/2010/main" val="3738072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822960"/>
            <a:ext cx="10515600" cy="1371600"/>
          </a:xfrm>
          <a:prstGeom prst="rect">
            <a:avLst/>
          </a:prstGeom>
          <a:noFill/>
          <a:ln/>
        </p:spPr>
        <p:txBody>
          <a:bodyPr wrap="square" lIns="0" tIns="0" rIns="0" bIns="0" rtlCol="0" anchor="t"/>
          <a:lstStyle/>
          <a:p>
            <a:pPr marL="0" indent="0" algn="l">
              <a:buNone/>
            </a:pPr>
            <a:r>
              <a:rPr lang="en-US" sz="4400" b="1" dirty="0">
                <a:solidFill>
                  <a:schemeClr val="bg1"/>
                </a:solidFill>
                <a:latin typeface="Cambria" pitchFamily="34" charset="0"/>
                <a:ea typeface="Cambria" pitchFamily="34" charset="-122"/>
                <a:cs typeface="Cambria" pitchFamily="34" charset="-120"/>
              </a:rPr>
              <a:t>ccCRM: from a collection of notes …</a:t>
            </a:r>
            <a:br>
              <a:rPr lang="en-US" sz="4400" b="1" dirty="0">
                <a:solidFill>
                  <a:schemeClr val="bg1"/>
                </a:solidFill>
                <a:latin typeface="Cambria" pitchFamily="34" charset="0"/>
                <a:ea typeface="Cambria" pitchFamily="34" charset="-122"/>
                <a:cs typeface="Cambria" pitchFamily="34" charset="-120"/>
              </a:rPr>
            </a:br>
            <a:r>
              <a:rPr lang="en-US" sz="4400" b="1" dirty="0">
                <a:solidFill>
                  <a:schemeClr val="bg1"/>
                </a:solidFill>
                <a:latin typeface="Cambria" pitchFamily="34" charset="0"/>
                <a:ea typeface="Cambria" pitchFamily="34" charset="-122"/>
                <a:cs typeface="Cambria" pitchFamily="34" charset="-120"/>
              </a:rPr>
              <a:t>           … to an app on my phone.</a:t>
            </a:r>
            <a:endParaRPr lang="en-US" sz="4400" dirty="0"/>
          </a:p>
        </p:txBody>
      </p:sp>
      <p:sp>
        <p:nvSpPr>
          <p:cNvPr id="3" name="Text 0"/>
          <p:cNvSpPr>
            <a:spLocks noGrp="1"/>
          </p:cNvSpPr>
          <p:nvPr>
            <p:ph type="body" idx="101" hasCustomPrompt="1"/>
          </p:nvPr>
        </p:nvSpPr>
        <p:spPr>
          <a:xfrm>
            <a:off x="561653" y="2276856"/>
            <a:ext cx="10515600" cy="548640"/>
          </a:xfrm>
          <a:prstGeom prst="rect">
            <a:avLst/>
          </a:prstGeom>
          <a:noFill/>
          <a:ln/>
        </p:spPr>
        <p:txBody>
          <a:bodyPr wrap="square" lIns="0" tIns="0" rIns="0" bIns="0" rtlCol="0" anchor="t"/>
          <a:lstStyle/>
          <a:p>
            <a:pPr marL="0" indent="0" algn="l">
              <a:buNone/>
            </a:pPr>
            <a:r>
              <a:rPr lang="en-US" sz="2000" dirty="0">
                <a:solidFill>
                  <a:srgbClr val="C9D1DA"/>
                </a:solidFill>
                <a:latin typeface="Calibri" pitchFamily="34" charset="0"/>
                <a:ea typeface="Calibri" pitchFamily="34" charset="-122"/>
                <a:cs typeface="Calibri" pitchFamily="34" charset="-120"/>
              </a:rPr>
              <a:t>A personal CRM in Delphi, built in three parts</a:t>
            </a:r>
            <a:endParaRPr lang="en-US" sz="2000" dirty="0"/>
          </a:p>
        </p:txBody>
      </p:sp>
      <p:sp>
        <p:nvSpPr>
          <p:cNvPr id="4" name="part 1 card"/>
          <p:cNvSpPr/>
          <p:nvPr/>
        </p:nvSpPr>
        <p:spPr>
          <a:xfrm>
            <a:off x="548640" y="3246120"/>
            <a:ext cx="3246120" cy="2103120"/>
          </a:xfrm>
          <a:prstGeom prst="roundRect">
            <a:avLst>
              <a:gd name="adj" fmla="val 5217"/>
            </a:avLst>
          </a:prstGeom>
          <a:solidFill>
            <a:srgbClr val="2A3846"/>
          </a:solidFill>
          <a:ln w="12700">
            <a:solidFill>
              <a:srgbClr val="2A3846"/>
            </a:solidFill>
            <a:prstDash val="solid"/>
          </a:ln>
          <a:effectLst>
            <a:outerShdw blurRad="101600" dist="25400" dir="5400000" algn="bl" rotWithShape="0">
              <a:srgbClr val="000000">
                <a:alpha val="12000"/>
              </a:srgbClr>
            </a:outerShdw>
          </a:effectLst>
        </p:spPr>
      </p:sp>
      <p:sp>
        <p:nvSpPr>
          <p:cNvPr id="5" name="part 1 circle"/>
          <p:cNvSpPr/>
          <p:nvPr/>
        </p:nvSpPr>
        <p:spPr>
          <a:xfrm>
            <a:off x="822960" y="3520440"/>
            <a:ext cx="731520" cy="731520"/>
          </a:xfrm>
          <a:prstGeom prst="ellipse">
            <a:avLst/>
          </a:prstGeom>
          <a:solidFill>
            <a:schemeClr val="accent1"/>
          </a:solidFill>
          <a:ln w="12700">
            <a:solidFill>
              <a:schemeClr val="accent1"/>
            </a:solidFill>
            <a:prstDash val="solid"/>
          </a:ln>
        </p:spPr>
      </p:sp>
      <p:pic>
        <p:nvPicPr>
          <p:cNvPr id="6" name="part 1 icon" descr="part 1"/>
          <p:cNvPicPr>
            <a:picLocks noChangeAspect="1"/>
          </p:cNvPicPr>
          <p:nvPr/>
        </p:nvPicPr>
        <p:blipFill>
          <a:blip r:embed="rId3"/>
          <a:stretch>
            <a:fillRect/>
          </a:stretch>
        </p:blipFill>
        <p:spPr>
          <a:xfrm>
            <a:off x="983894" y="3681374"/>
            <a:ext cx="409651" cy="409651"/>
          </a:xfrm>
          <a:prstGeom prst="rect">
            <a:avLst/>
          </a:prstGeom>
        </p:spPr>
      </p:pic>
      <p:sp>
        <p:nvSpPr>
          <p:cNvPr id="7" name="part 1 number"/>
          <p:cNvSpPr txBox="1"/>
          <p:nvPr/>
        </p:nvSpPr>
        <p:spPr>
          <a:xfrm>
            <a:off x="3063240" y="3474720"/>
            <a:ext cx="457200" cy="548640"/>
          </a:xfrm>
          <a:prstGeom prst="rect">
            <a:avLst/>
          </a:prstGeom>
          <a:noFill/>
          <a:ln/>
        </p:spPr>
        <p:txBody>
          <a:bodyPr wrap="square" lIns="0" tIns="0" rIns="0" bIns="0" rtlCol="0" anchor="ctr"/>
          <a:lstStyle/>
          <a:p>
            <a:pPr marL="0" indent="0" algn="r">
              <a:buNone/>
            </a:pPr>
            <a:r>
              <a:rPr lang="en-US" sz="3000" b="1" dirty="0">
                <a:solidFill>
                  <a:srgbClr val="51606E"/>
                </a:solidFill>
                <a:latin typeface="Cambria" pitchFamily="34" charset="0"/>
                <a:ea typeface="Cambria" pitchFamily="34" charset="-122"/>
                <a:cs typeface="Cambria" pitchFamily="34" charset="-120"/>
              </a:rPr>
              <a:t>1</a:t>
            </a:r>
            <a:endParaRPr lang="en-US" sz="3000" dirty="0"/>
          </a:p>
        </p:txBody>
      </p:sp>
      <p:sp>
        <p:nvSpPr>
          <p:cNvPr id="8" name="part 1 text"/>
          <p:cNvSpPr txBox="1"/>
          <p:nvPr/>
        </p:nvSpPr>
        <p:spPr>
          <a:xfrm>
            <a:off x="822960" y="4343400"/>
            <a:ext cx="2697480" cy="914400"/>
          </a:xfrm>
          <a:prstGeom prst="rect">
            <a:avLst/>
          </a:prstGeom>
          <a:noFill/>
          <a:ln/>
        </p:spPr>
        <p:txBody>
          <a:bodyPr wrap="square" lIns="0" tIns="0" rIns="0" bIns="0" rtlCol="0" anchor="t"/>
          <a:lstStyle/>
          <a:p>
            <a:pPr marL="0" indent="0">
              <a:spcAft>
                <a:spcPts val="400"/>
              </a:spcAft>
              <a:buNone/>
            </a:pPr>
            <a:r>
              <a:rPr lang="en-US" sz="2000" b="1" dirty="0">
                <a:solidFill>
                  <a:schemeClr val="bg1"/>
                </a:solidFill>
              </a:rPr>
              <a:t>Wave API</a:t>
            </a:r>
            <a:endParaRPr lang="en-US" sz="2000" dirty="0"/>
          </a:p>
          <a:p>
            <a:pPr marL="0" indent="0">
              <a:spcAft>
                <a:spcPts val="400"/>
              </a:spcAft>
              <a:buNone/>
            </a:pPr>
            <a:r>
              <a:rPr lang="en-US" sz="1400" dirty="0">
                <a:solidFill>
                  <a:srgbClr val="C9D1DA"/>
                </a:solidFill>
              </a:rPr>
              <a:t>GraphQL, read-only.</a:t>
            </a:r>
            <a:endParaRPr lang="en-US" sz="2000" dirty="0"/>
          </a:p>
          <a:p>
            <a:pPr marL="0" indent="0">
              <a:spcAft>
                <a:spcPts val="400"/>
              </a:spcAft>
              <a:buNone/>
            </a:pPr>
            <a:r>
              <a:rPr lang="en-US" sz="1400" dirty="0">
                <a:solidFill>
                  <a:srgbClr val="C9D1DA"/>
                </a:solidFill>
              </a:rPr>
              <a:t>Wave stays the master.</a:t>
            </a:r>
            <a:endParaRPr lang="en-US" sz="2000" dirty="0"/>
          </a:p>
        </p:txBody>
      </p:sp>
      <p:sp>
        <p:nvSpPr>
          <p:cNvPr id="9" name="arrow 1"/>
          <p:cNvSpPr/>
          <p:nvPr/>
        </p:nvSpPr>
        <p:spPr>
          <a:xfrm>
            <a:off x="3913632" y="4133088"/>
            <a:ext cx="329184" cy="329184"/>
          </a:xfrm>
          <a:prstGeom prst="rightArrow">
            <a:avLst/>
          </a:prstGeom>
          <a:solidFill>
            <a:srgbClr val="51606E"/>
          </a:solidFill>
          <a:ln w="12700">
            <a:solidFill>
              <a:srgbClr val="51606E"/>
            </a:solidFill>
            <a:prstDash val="solid"/>
          </a:ln>
        </p:spPr>
      </p:sp>
      <p:sp>
        <p:nvSpPr>
          <p:cNvPr id="10" name="part 2 card"/>
          <p:cNvSpPr/>
          <p:nvPr/>
        </p:nvSpPr>
        <p:spPr>
          <a:xfrm>
            <a:off x="4361688" y="3246120"/>
            <a:ext cx="3246120" cy="2103120"/>
          </a:xfrm>
          <a:prstGeom prst="roundRect">
            <a:avLst>
              <a:gd name="adj" fmla="val 5217"/>
            </a:avLst>
          </a:prstGeom>
          <a:solidFill>
            <a:srgbClr val="2A3846"/>
          </a:solidFill>
          <a:ln w="12700">
            <a:solidFill>
              <a:srgbClr val="2A3846"/>
            </a:solidFill>
            <a:prstDash val="solid"/>
          </a:ln>
          <a:effectLst>
            <a:outerShdw blurRad="101600" dist="25400" dir="5400000" algn="bl" rotWithShape="0">
              <a:srgbClr val="000000">
                <a:alpha val="12000"/>
              </a:srgbClr>
            </a:outerShdw>
          </a:effectLst>
        </p:spPr>
      </p:sp>
      <p:sp>
        <p:nvSpPr>
          <p:cNvPr id="11" name="part 2 circle"/>
          <p:cNvSpPr/>
          <p:nvPr/>
        </p:nvSpPr>
        <p:spPr>
          <a:xfrm>
            <a:off x="4636008" y="3520440"/>
            <a:ext cx="731520" cy="731520"/>
          </a:xfrm>
          <a:prstGeom prst="ellipse">
            <a:avLst/>
          </a:prstGeom>
          <a:solidFill>
            <a:schemeClr val="accent2"/>
          </a:solidFill>
          <a:ln w="12700">
            <a:solidFill>
              <a:schemeClr val="accent2"/>
            </a:solidFill>
            <a:prstDash val="solid"/>
          </a:ln>
        </p:spPr>
      </p:sp>
      <p:pic>
        <p:nvPicPr>
          <p:cNvPr id="12" name="part 2 icon" descr="part 2"/>
          <p:cNvPicPr>
            <a:picLocks noChangeAspect="1"/>
          </p:cNvPicPr>
          <p:nvPr/>
        </p:nvPicPr>
        <p:blipFill>
          <a:blip r:embed="rId4"/>
          <a:stretch>
            <a:fillRect/>
          </a:stretch>
        </p:blipFill>
        <p:spPr>
          <a:xfrm>
            <a:off x="4796942" y="3681374"/>
            <a:ext cx="409651" cy="409651"/>
          </a:xfrm>
          <a:prstGeom prst="rect">
            <a:avLst/>
          </a:prstGeom>
        </p:spPr>
      </p:pic>
      <p:sp>
        <p:nvSpPr>
          <p:cNvPr id="13" name="part 2 number"/>
          <p:cNvSpPr txBox="1"/>
          <p:nvPr/>
        </p:nvSpPr>
        <p:spPr>
          <a:xfrm>
            <a:off x="6876288" y="3474720"/>
            <a:ext cx="457200" cy="548640"/>
          </a:xfrm>
          <a:prstGeom prst="rect">
            <a:avLst/>
          </a:prstGeom>
          <a:noFill/>
          <a:ln/>
        </p:spPr>
        <p:txBody>
          <a:bodyPr wrap="square" lIns="0" tIns="0" rIns="0" bIns="0" rtlCol="0" anchor="ctr"/>
          <a:lstStyle/>
          <a:p>
            <a:pPr marL="0" indent="0" algn="r">
              <a:buNone/>
            </a:pPr>
            <a:r>
              <a:rPr lang="en-US" sz="3000" b="1" dirty="0">
                <a:solidFill>
                  <a:srgbClr val="51606E"/>
                </a:solidFill>
                <a:latin typeface="Cambria" pitchFamily="34" charset="0"/>
                <a:ea typeface="Cambria" pitchFamily="34" charset="-122"/>
                <a:cs typeface="Cambria" pitchFamily="34" charset="-120"/>
              </a:rPr>
              <a:t>2</a:t>
            </a:r>
            <a:endParaRPr lang="en-US" sz="3000" dirty="0"/>
          </a:p>
        </p:txBody>
      </p:sp>
      <p:sp>
        <p:nvSpPr>
          <p:cNvPr id="14" name="part 2 text"/>
          <p:cNvSpPr txBox="1"/>
          <p:nvPr/>
        </p:nvSpPr>
        <p:spPr>
          <a:xfrm>
            <a:off x="4636008" y="4343400"/>
            <a:ext cx="2697480" cy="914400"/>
          </a:xfrm>
          <a:prstGeom prst="rect">
            <a:avLst/>
          </a:prstGeom>
          <a:noFill/>
          <a:ln/>
        </p:spPr>
        <p:txBody>
          <a:bodyPr wrap="square" lIns="0" tIns="0" rIns="0" bIns="0" rtlCol="0" anchor="t"/>
          <a:lstStyle/>
          <a:p>
            <a:pPr marL="0" indent="0">
              <a:spcAft>
                <a:spcPts val="400"/>
              </a:spcAft>
              <a:buNone/>
            </a:pPr>
            <a:r>
              <a:rPr lang="en-US" sz="2000" b="1" dirty="0">
                <a:solidFill>
                  <a:schemeClr val="bg1"/>
                </a:solidFill>
              </a:rPr>
              <a:t>RAD Server module</a:t>
            </a:r>
            <a:endParaRPr lang="en-US" sz="2000" dirty="0"/>
          </a:p>
          <a:p>
            <a:pPr marL="0" indent="0">
              <a:spcAft>
                <a:spcPts val="400"/>
              </a:spcAft>
              <a:buNone/>
            </a:pPr>
            <a:r>
              <a:rPr lang="en-US" sz="1400" dirty="0">
                <a:solidFill>
                  <a:srgbClr val="C9D1DA"/>
                </a:solidFill>
              </a:rPr>
              <a:t>Sync, REST resources,</a:t>
            </a:r>
            <a:endParaRPr lang="en-US" sz="2000" dirty="0"/>
          </a:p>
          <a:p>
            <a:pPr marL="0" indent="0">
              <a:spcAft>
                <a:spcPts val="400"/>
              </a:spcAft>
              <a:buNone/>
            </a:pPr>
            <a:r>
              <a:rPr lang="en-US" sz="1400" dirty="0">
                <a:solidFill>
                  <a:srgbClr val="C9D1DA"/>
                </a:solidFill>
              </a:rPr>
              <a:t>Firebird 5 + change log.</a:t>
            </a:r>
            <a:endParaRPr lang="en-US" sz="2000" dirty="0"/>
          </a:p>
        </p:txBody>
      </p:sp>
      <p:sp>
        <p:nvSpPr>
          <p:cNvPr id="15" name="arrow 2"/>
          <p:cNvSpPr/>
          <p:nvPr/>
        </p:nvSpPr>
        <p:spPr>
          <a:xfrm>
            <a:off x="7726680" y="4133088"/>
            <a:ext cx="329184" cy="329184"/>
          </a:xfrm>
          <a:prstGeom prst="rightArrow">
            <a:avLst/>
          </a:prstGeom>
          <a:solidFill>
            <a:srgbClr val="51606E"/>
          </a:solidFill>
          <a:ln w="12700">
            <a:solidFill>
              <a:srgbClr val="51606E"/>
            </a:solidFill>
            <a:prstDash val="solid"/>
          </a:ln>
        </p:spPr>
      </p:sp>
      <p:sp>
        <p:nvSpPr>
          <p:cNvPr id="16" name="part 3 card"/>
          <p:cNvSpPr/>
          <p:nvPr/>
        </p:nvSpPr>
        <p:spPr>
          <a:xfrm>
            <a:off x="8174736" y="3246120"/>
            <a:ext cx="3246120" cy="2103120"/>
          </a:xfrm>
          <a:prstGeom prst="roundRect">
            <a:avLst>
              <a:gd name="adj" fmla="val 5217"/>
            </a:avLst>
          </a:prstGeom>
          <a:solidFill>
            <a:srgbClr val="2A3846"/>
          </a:solidFill>
          <a:ln w="12700">
            <a:solidFill>
              <a:srgbClr val="2A3846"/>
            </a:solidFill>
            <a:prstDash val="solid"/>
          </a:ln>
          <a:effectLst>
            <a:outerShdw blurRad="101600" dist="25400" dir="5400000" algn="bl" rotWithShape="0">
              <a:srgbClr val="000000">
                <a:alpha val="12000"/>
              </a:srgbClr>
            </a:outerShdw>
          </a:effectLst>
        </p:spPr>
      </p:sp>
      <p:sp>
        <p:nvSpPr>
          <p:cNvPr id="17" name="part 3 circle"/>
          <p:cNvSpPr/>
          <p:nvPr/>
        </p:nvSpPr>
        <p:spPr>
          <a:xfrm>
            <a:off x="8449056" y="3520440"/>
            <a:ext cx="731520" cy="731520"/>
          </a:xfrm>
          <a:prstGeom prst="ellipse">
            <a:avLst/>
          </a:prstGeom>
          <a:solidFill>
            <a:schemeClr val="accent3"/>
          </a:solidFill>
          <a:ln w="12700">
            <a:solidFill>
              <a:schemeClr val="accent3"/>
            </a:solidFill>
            <a:prstDash val="solid"/>
          </a:ln>
        </p:spPr>
      </p:sp>
      <p:pic>
        <p:nvPicPr>
          <p:cNvPr id="18" name="part 3 icon" descr="part 3"/>
          <p:cNvPicPr>
            <a:picLocks noChangeAspect="1"/>
          </p:cNvPicPr>
          <p:nvPr/>
        </p:nvPicPr>
        <p:blipFill>
          <a:blip r:embed="rId5"/>
          <a:stretch>
            <a:fillRect/>
          </a:stretch>
        </p:blipFill>
        <p:spPr>
          <a:xfrm>
            <a:off x="8609990" y="3681374"/>
            <a:ext cx="409651" cy="409651"/>
          </a:xfrm>
          <a:prstGeom prst="rect">
            <a:avLst/>
          </a:prstGeom>
        </p:spPr>
      </p:pic>
      <p:sp>
        <p:nvSpPr>
          <p:cNvPr id="19" name="part 3 number"/>
          <p:cNvSpPr txBox="1"/>
          <p:nvPr/>
        </p:nvSpPr>
        <p:spPr>
          <a:xfrm>
            <a:off x="10689336" y="3474720"/>
            <a:ext cx="457200" cy="548640"/>
          </a:xfrm>
          <a:prstGeom prst="rect">
            <a:avLst/>
          </a:prstGeom>
          <a:noFill/>
          <a:ln/>
        </p:spPr>
        <p:txBody>
          <a:bodyPr wrap="square" lIns="0" tIns="0" rIns="0" bIns="0" rtlCol="0" anchor="ctr"/>
          <a:lstStyle/>
          <a:p>
            <a:pPr marL="0" indent="0" algn="r">
              <a:buNone/>
            </a:pPr>
            <a:r>
              <a:rPr lang="en-US" sz="3000" b="1" dirty="0">
                <a:solidFill>
                  <a:srgbClr val="51606E"/>
                </a:solidFill>
                <a:latin typeface="Cambria" pitchFamily="34" charset="0"/>
                <a:ea typeface="Cambria" pitchFamily="34" charset="-122"/>
                <a:cs typeface="Cambria" pitchFamily="34" charset="-120"/>
              </a:rPr>
              <a:t>3</a:t>
            </a:r>
            <a:endParaRPr lang="en-US" sz="3000" dirty="0"/>
          </a:p>
        </p:txBody>
      </p:sp>
      <p:sp>
        <p:nvSpPr>
          <p:cNvPr id="20" name="part 3 text"/>
          <p:cNvSpPr txBox="1"/>
          <p:nvPr/>
        </p:nvSpPr>
        <p:spPr>
          <a:xfrm>
            <a:off x="8449056" y="4343400"/>
            <a:ext cx="2697480" cy="914400"/>
          </a:xfrm>
          <a:prstGeom prst="rect">
            <a:avLst/>
          </a:prstGeom>
          <a:noFill/>
          <a:ln/>
        </p:spPr>
        <p:txBody>
          <a:bodyPr wrap="square" lIns="0" tIns="0" rIns="0" bIns="0" rtlCol="0" anchor="t"/>
          <a:lstStyle/>
          <a:p>
            <a:pPr marL="0" indent="0">
              <a:spcAft>
                <a:spcPts val="400"/>
              </a:spcAft>
              <a:buNone/>
            </a:pPr>
            <a:r>
              <a:rPr lang="en-US" sz="2000" b="1" dirty="0">
                <a:solidFill>
                  <a:schemeClr val="bg1"/>
                </a:solidFill>
              </a:rPr>
              <a:t>FireMonkey app</a:t>
            </a:r>
            <a:endParaRPr lang="en-US" sz="2000" dirty="0"/>
          </a:p>
          <a:p>
            <a:pPr marL="0" indent="0">
              <a:spcAft>
                <a:spcPts val="400"/>
              </a:spcAft>
              <a:buNone/>
            </a:pPr>
            <a:r>
              <a:rPr lang="en-US" sz="1400" dirty="0">
                <a:solidFill>
                  <a:srgbClr val="C9D1DA"/>
                </a:solidFill>
              </a:rPr>
              <a:t>Search, call, email,</a:t>
            </a:r>
            <a:endParaRPr lang="en-US" sz="2000" dirty="0"/>
          </a:p>
          <a:p>
            <a:pPr marL="0" indent="0">
              <a:spcAft>
                <a:spcPts val="400"/>
              </a:spcAft>
              <a:buNone/>
            </a:pPr>
            <a:r>
              <a:rPr lang="en-US" sz="1400" dirty="0">
                <a:solidFill>
                  <a:srgbClr val="C9D1DA"/>
                </a:solidFill>
              </a:rPr>
              <a:t>notes on the phone.</a:t>
            </a:r>
            <a:endParaRPr lang="en-US" sz="2000" dirty="0"/>
          </a:p>
        </p:txBody>
      </p:sp>
      <p:sp>
        <p:nvSpPr>
          <p:cNvPr id="21" name="repo link">
            <a:hlinkClick r:id="rId6"/>
          </p:cNvPr>
          <p:cNvSpPr txBox="1"/>
          <p:nvPr/>
        </p:nvSpPr>
        <p:spPr>
          <a:xfrm>
            <a:off x="548640" y="5989320"/>
            <a:ext cx="5486400" cy="320040"/>
          </a:xfrm>
          <a:prstGeom prst="rect">
            <a:avLst/>
          </a:prstGeom>
          <a:noFill/>
          <a:ln/>
        </p:spPr>
        <p:txBody>
          <a:bodyPr wrap="square" lIns="0" tIns="0" rIns="0" bIns="0" rtlCol="0" anchor="ctr"/>
          <a:lstStyle/>
          <a:p>
            <a:pPr marL="0" indent="0">
              <a:buNone/>
            </a:pPr>
            <a:r>
              <a:rPr lang="en-US" sz="1400" u="sng" dirty="0">
                <a:solidFill>
                  <a:srgbClr val="8FA0B0"/>
                </a:solidFill>
                <a:hlinkClick r:id="rId6">
                  <a:extLst>
                    <a:ext uri="{A12FA001-AC4F-418D-AE19-62706E023703}">
                      <ahyp:hlinkClr xmlns:ahyp="http://schemas.microsoft.com/office/drawing/2018/hyperlinkcolor" val="tx"/>
                    </a:ext>
                  </a:extLst>
                </a:hlinkClick>
              </a:rPr>
              <a:t>github.com/corneliusdavid/ccCRM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Wave circle"/>
          <p:cNvSpPr/>
          <p:nvPr/>
        </p:nvSpPr>
        <p:spPr>
          <a:xfrm>
            <a:off x="548640" y="457200"/>
            <a:ext cx="685800" cy="685800"/>
          </a:xfrm>
          <a:prstGeom prst="ellipse">
            <a:avLst/>
          </a:prstGeom>
          <a:solidFill>
            <a:schemeClr val="accent1"/>
          </a:solidFill>
          <a:ln w="12700">
            <a:solidFill>
              <a:schemeClr val="accent1"/>
            </a:solidFill>
            <a:prstDash val="solid"/>
          </a:ln>
        </p:spPr>
      </p:sp>
      <p:pic>
        <p:nvPicPr>
          <p:cNvPr id="3" name="Wave icon" descr="Wave"/>
          <p:cNvPicPr>
            <a:picLocks noChangeAspect="1"/>
          </p:cNvPicPr>
          <p:nvPr/>
        </p:nvPicPr>
        <p:blipFill>
          <a:blip r:embed="rId3"/>
          <a:stretch>
            <a:fillRect/>
          </a:stretch>
        </p:blipFill>
        <p:spPr>
          <a:xfrm>
            <a:off x="699516" y="608076"/>
            <a:ext cx="384048" cy="384048"/>
          </a:xfrm>
          <a:prstGeom prst="rect">
            <a:avLst/>
          </a:prstGeom>
        </p:spPr>
      </p:pic>
      <p:sp>
        <p:nvSpPr>
          <p:cNvPr id="4" name="Text 0"/>
          <p:cNvSpPr>
            <a:spLocks noGrp="1"/>
          </p:cNvSpPr>
          <p:nvPr>
            <p:ph type="title" idx="100" hasCustomPrompt="1"/>
          </p:nvPr>
        </p:nvSpPr>
        <p:spPr>
          <a:xfrm>
            <a:off x="1417320" y="411480"/>
            <a:ext cx="10241280" cy="77724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Wave API: read-only GraphQL</a:t>
            </a:r>
            <a:endParaRPr lang="en-US" sz="3600" dirty="0"/>
          </a:p>
        </p:txBody>
      </p:sp>
      <p:sp>
        <p:nvSpPr>
          <p:cNvPr id="5" name="graphql circle"/>
          <p:cNvSpPr/>
          <p:nvPr/>
        </p:nvSpPr>
        <p:spPr>
          <a:xfrm>
            <a:off x="548640" y="1627632"/>
            <a:ext cx="502920" cy="502920"/>
          </a:xfrm>
          <a:prstGeom prst="ellipse">
            <a:avLst/>
          </a:prstGeom>
          <a:solidFill>
            <a:srgbClr val="E8590C">
              <a:alpha val="15000"/>
            </a:srgbClr>
          </a:solidFill>
          <a:ln w="12700">
            <a:solidFill>
              <a:srgbClr val="E8590C"/>
            </a:solidFill>
            <a:prstDash val="solid"/>
          </a:ln>
        </p:spPr>
      </p:sp>
      <p:pic>
        <p:nvPicPr>
          <p:cNvPr id="6" name="graphql icon" descr="GraphQL only"/>
          <p:cNvPicPr>
            <a:picLocks noChangeAspect="1"/>
          </p:cNvPicPr>
          <p:nvPr/>
        </p:nvPicPr>
        <p:blipFill>
          <a:blip r:embed="rId4"/>
          <a:stretch>
            <a:fillRect/>
          </a:stretch>
        </p:blipFill>
        <p:spPr>
          <a:xfrm>
            <a:off x="658368" y="1737360"/>
            <a:ext cx="283464" cy="283464"/>
          </a:xfrm>
          <a:prstGeom prst="rect">
            <a:avLst/>
          </a:prstGeom>
        </p:spPr>
      </p:pic>
      <p:sp>
        <p:nvSpPr>
          <p:cNvPr id="7" name="graphql text"/>
          <p:cNvSpPr txBox="1"/>
          <p:nvPr/>
        </p:nvSpPr>
        <p:spPr>
          <a:xfrm>
            <a:off x="1280160" y="1600200"/>
            <a:ext cx="4663440" cy="91440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GraphQL only</a:t>
            </a:r>
            <a:endParaRPr lang="en-US" sz="1700" dirty="0"/>
          </a:p>
          <a:p>
            <a:pPr marL="0" indent="0">
              <a:spcAft>
                <a:spcPts val="200"/>
              </a:spcAft>
              <a:buNone/>
            </a:pPr>
            <a:r>
              <a:rPr lang="en-US" sz="1400" dirty="0">
                <a:solidFill>
                  <a:srgbClr val="4A5560"/>
                </a:solidFill>
              </a:rPr>
              <a:t>One endpoint: gql.waveapps.com/graphql/public. Ignore the old REST write-ups.</a:t>
            </a:r>
            <a:endParaRPr lang="en-US" sz="1700" dirty="0"/>
          </a:p>
        </p:txBody>
      </p:sp>
      <p:sp>
        <p:nvSpPr>
          <p:cNvPr id="8" name="token circle"/>
          <p:cNvSpPr/>
          <p:nvPr/>
        </p:nvSpPr>
        <p:spPr>
          <a:xfrm>
            <a:off x="548640" y="2770632"/>
            <a:ext cx="502920" cy="502920"/>
          </a:xfrm>
          <a:prstGeom prst="ellipse">
            <a:avLst/>
          </a:prstGeom>
          <a:solidFill>
            <a:srgbClr val="E8590C">
              <a:alpha val="15000"/>
            </a:srgbClr>
          </a:solidFill>
          <a:ln w="12700">
            <a:solidFill>
              <a:srgbClr val="E8590C"/>
            </a:solidFill>
            <a:prstDash val="solid"/>
          </a:ln>
        </p:spPr>
      </p:sp>
      <p:pic>
        <p:nvPicPr>
          <p:cNvPr id="9" name="token icon" descr="Full Access token"/>
          <p:cNvPicPr>
            <a:picLocks noChangeAspect="1"/>
          </p:cNvPicPr>
          <p:nvPr/>
        </p:nvPicPr>
        <p:blipFill>
          <a:blip r:embed="rId5"/>
          <a:stretch>
            <a:fillRect/>
          </a:stretch>
        </p:blipFill>
        <p:spPr>
          <a:xfrm>
            <a:off x="658368" y="2880360"/>
            <a:ext cx="283464" cy="283464"/>
          </a:xfrm>
          <a:prstGeom prst="rect">
            <a:avLst/>
          </a:prstGeom>
        </p:spPr>
      </p:pic>
      <p:sp>
        <p:nvSpPr>
          <p:cNvPr id="10" name="token text"/>
          <p:cNvSpPr txBox="1"/>
          <p:nvPr/>
        </p:nvSpPr>
        <p:spPr>
          <a:xfrm>
            <a:off x="1280160" y="2743200"/>
            <a:ext cx="4663440" cy="91440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Full Access token</a:t>
            </a:r>
            <a:endParaRPr lang="en-US" sz="1700" dirty="0"/>
          </a:p>
          <a:p>
            <a:pPr marL="0" indent="0">
              <a:spcAft>
                <a:spcPts val="200"/>
              </a:spcAft>
              <a:buNone/>
            </a:pPr>
            <a:r>
              <a:rPr lang="en-US" sz="1400" dirty="0">
                <a:solidFill>
                  <a:srgbClr val="4A5560"/>
                </a:solidFill>
              </a:rPr>
              <a:t>Fine for personal use. It lives on the server in ccCRM.ini, never in the app.</a:t>
            </a:r>
            <a:endParaRPr lang="en-US" sz="1700" dirty="0"/>
          </a:p>
        </p:txBody>
      </p:sp>
      <p:sp>
        <p:nvSpPr>
          <p:cNvPr id="11" name="read-only circle"/>
          <p:cNvSpPr/>
          <p:nvPr/>
        </p:nvSpPr>
        <p:spPr>
          <a:xfrm>
            <a:off x="548640" y="3913632"/>
            <a:ext cx="502920" cy="502920"/>
          </a:xfrm>
          <a:prstGeom prst="ellipse">
            <a:avLst/>
          </a:prstGeom>
          <a:solidFill>
            <a:srgbClr val="E8590C">
              <a:alpha val="15000"/>
            </a:srgbClr>
          </a:solidFill>
          <a:ln w="12700">
            <a:solidFill>
              <a:srgbClr val="E8590C"/>
            </a:solidFill>
            <a:prstDash val="solid"/>
          </a:ln>
        </p:spPr>
      </p:sp>
      <p:pic>
        <p:nvPicPr>
          <p:cNvPr id="12" name="read-only icon" descr="Read-only by design"/>
          <p:cNvPicPr>
            <a:picLocks noChangeAspect="1"/>
          </p:cNvPicPr>
          <p:nvPr/>
        </p:nvPicPr>
        <p:blipFill>
          <a:blip r:embed="rId6"/>
          <a:stretch>
            <a:fillRect/>
          </a:stretch>
        </p:blipFill>
        <p:spPr>
          <a:xfrm>
            <a:off x="658368" y="4023360"/>
            <a:ext cx="283464" cy="283464"/>
          </a:xfrm>
          <a:prstGeom prst="rect">
            <a:avLst/>
          </a:prstGeom>
        </p:spPr>
      </p:pic>
      <p:sp>
        <p:nvSpPr>
          <p:cNvPr id="13" name="read-only text"/>
          <p:cNvSpPr txBox="1"/>
          <p:nvPr/>
        </p:nvSpPr>
        <p:spPr>
          <a:xfrm>
            <a:off x="1280160" y="3886200"/>
            <a:ext cx="4663440" cy="91440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Read-only by design</a:t>
            </a:r>
            <a:endParaRPr lang="en-US" sz="1700" dirty="0"/>
          </a:p>
          <a:p>
            <a:pPr marL="0" indent="0">
              <a:spcAft>
                <a:spcPts val="200"/>
              </a:spcAft>
              <a:buNone/>
            </a:pPr>
            <a:r>
              <a:rPr lang="en-US" sz="1400" dirty="0">
                <a:solidFill>
                  <a:srgbClr val="4A5560"/>
                </a:solidFill>
              </a:rPr>
              <a:t>TWaveClient sends queries only: no mutations, nothing written back to Wave.</a:t>
            </a:r>
            <a:endParaRPr lang="en-US" sz="1700" dirty="0"/>
          </a:p>
        </p:txBody>
      </p:sp>
      <p:sp>
        <p:nvSpPr>
          <p:cNvPr id="14" name="polling circle"/>
          <p:cNvSpPr/>
          <p:nvPr/>
        </p:nvSpPr>
        <p:spPr>
          <a:xfrm>
            <a:off x="548640" y="5056632"/>
            <a:ext cx="502920" cy="502920"/>
          </a:xfrm>
          <a:prstGeom prst="ellipse">
            <a:avLst/>
          </a:prstGeom>
          <a:solidFill>
            <a:srgbClr val="E8590C">
              <a:alpha val="15000"/>
            </a:srgbClr>
          </a:solidFill>
          <a:ln w="12700">
            <a:solidFill>
              <a:srgbClr val="E8590C"/>
            </a:solidFill>
            <a:prstDash val="solid"/>
          </a:ln>
        </p:spPr>
      </p:sp>
      <p:pic>
        <p:nvPicPr>
          <p:cNvPr id="15" name="polling icon" descr="Polling, not webhooks"/>
          <p:cNvPicPr>
            <a:picLocks noChangeAspect="1"/>
          </p:cNvPicPr>
          <p:nvPr/>
        </p:nvPicPr>
        <p:blipFill>
          <a:blip r:embed="rId7"/>
          <a:stretch>
            <a:fillRect/>
          </a:stretch>
        </p:blipFill>
        <p:spPr>
          <a:xfrm>
            <a:off x="658368" y="5166360"/>
            <a:ext cx="283464" cy="283464"/>
          </a:xfrm>
          <a:prstGeom prst="rect">
            <a:avLst/>
          </a:prstGeom>
        </p:spPr>
      </p:pic>
      <p:sp>
        <p:nvSpPr>
          <p:cNvPr id="16" name="polling text"/>
          <p:cNvSpPr txBox="1"/>
          <p:nvPr/>
        </p:nvSpPr>
        <p:spPr>
          <a:xfrm>
            <a:off x="1280160" y="5029200"/>
            <a:ext cx="4663440" cy="91440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Polling, not webhooks</a:t>
            </a:r>
            <a:endParaRPr lang="en-US" sz="1700" dirty="0"/>
          </a:p>
          <a:p>
            <a:pPr marL="0" indent="0">
              <a:spcAft>
                <a:spcPts val="200"/>
              </a:spcAft>
              <a:buNone/>
            </a:pPr>
            <a:r>
              <a:rPr lang="en-US" sz="1400" dirty="0">
                <a:solidFill>
                  <a:srgbClr val="4A5560"/>
                </a:solidFill>
              </a:rPr>
              <a:t>Nightly sync plus "Sync now". Upsert by Wave id; customers gone from Wave are flagged, never deleted.</a:t>
            </a:r>
            <a:endParaRPr lang="en-US" sz="1700" dirty="0"/>
          </a:p>
        </p:txBody>
      </p:sp>
      <p:sp>
        <p:nvSpPr>
          <p:cNvPr id="17" name="query card"/>
          <p:cNvSpPr/>
          <p:nvPr/>
        </p:nvSpPr>
        <p:spPr>
          <a:xfrm>
            <a:off x="6400800" y="1600200"/>
            <a:ext cx="5239512" cy="4160520"/>
          </a:xfrm>
          <a:prstGeom prst="roundRect">
            <a:avLst>
              <a:gd name="adj" fmla="val 2637"/>
            </a:avLst>
          </a:prstGeom>
          <a:solidFill>
            <a:srgbClr val="1A1D23"/>
          </a:solidFill>
          <a:ln w="12700">
            <a:solidFill>
              <a:srgbClr val="1A1D23"/>
            </a:solidFill>
            <a:prstDash val="solid"/>
          </a:ln>
          <a:effectLst>
            <a:outerShdw blurRad="101600" dist="25400" dir="5400000" algn="bl" rotWithShape="0">
              <a:srgbClr val="000000">
                <a:alpha val="12000"/>
              </a:srgbClr>
            </a:outerShdw>
          </a:effectLst>
        </p:spPr>
      </p:sp>
      <p:sp>
        <p:nvSpPr>
          <p:cNvPr id="18" name="query file"/>
          <p:cNvSpPr txBox="1"/>
          <p:nvPr/>
        </p:nvSpPr>
        <p:spPr>
          <a:xfrm>
            <a:off x="6720840" y="1828800"/>
            <a:ext cx="4599432" cy="274320"/>
          </a:xfrm>
          <a:prstGeom prst="rect">
            <a:avLst/>
          </a:prstGeom>
          <a:noFill/>
          <a:ln/>
        </p:spPr>
        <p:txBody>
          <a:bodyPr wrap="square" lIns="0" tIns="0" rIns="0" bIns="0" rtlCol="0" anchor="ctr"/>
          <a:lstStyle/>
          <a:p>
            <a:pPr marL="0" indent="0">
              <a:buNone/>
            </a:pPr>
            <a:r>
              <a:rPr lang="en-US" sz="1100" dirty="0">
                <a:solidFill>
                  <a:srgbClr val="8FA0B0"/>
                </a:solidFill>
              </a:rPr>
              <a:t>ccCRM.WaveClient.pas</a:t>
            </a:r>
            <a:endParaRPr lang="en-US" sz="1100" dirty="0"/>
          </a:p>
        </p:txBody>
      </p:sp>
      <p:sp>
        <p:nvSpPr>
          <p:cNvPr id="19" name="query code"/>
          <p:cNvSpPr txBox="1"/>
          <p:nvPr/>
        </p:nvSpPr>
        <p:spPr>
          <a:xfrm>
            <a:off x="6720840" y="2194560"/>
            <a:ext cx="4599432" cy="3291840"/>
          </a:xfrm>
          <a:prstGeom prst="rect">
            <a:avLst/>
          </a:prstGeom>
          <a:noFill/>
          <a:ln/>
        </p:spPr>
        <p:txBody>
          <a:bodyPr wrap="square" lIns="0" tIns="0" rIns="0" bIns="0" rtlCol="0" anchor="t"/>
          <a:lstStyle/>
          <a:p>
            <a:pPr marL="0" indent="0">
              <a:buNone/>
            </a:pPr>
            <a:r>
              <a:rPr lang="en-US" sz="1300" dirty="0">
                <a:solidFill>
                  <a:srgbClr val="E6E9EE"/>
                </a:solidFill>
                <a:latin typeface="Courier New" pitchFamily="34" charset="0"/>
                <a:ea typeface="Courier New" pitchFamily="34" charset="-122"/>
                <a:cs typeface="Courier New" pitchFamily="34" charset="-120"/>
              </a:rPr>
              <a:t>query Customers($businessId: ID!,</a:t>
            </a:r>
            <a:endParaRPr lang="en-US" sz="1300" dirty="0"/>
          </a:p>
          <a:p>
            <a:pPr marL="0" indent="0">
              <a:buNone/>
            </a:pPr>
            <a:r>
              <a:rPr lang="en-US" sz="1300" dirty="0">
                <a:solidFill>
                  <a:srgbClr val="E6E9EE"/>
                </a:solidFill>
                <a:latin typeface="Courier New" pitchFamily="34" charset="0"/>
                <a:ea typeface="Courier New" pitchFamily="34" charset="-122"/>
                <a:cs typeface="Courier New" pitchFamily="34" charset="-120"/>
              </a:rPr>
              <a:t>    $page: Int!, $pageSize: Int!) {</a:t>
            </a:r>
            <a:endParaRPr lang="en-US" sz="1300" dirty="0"/>
          </a:p>
          <a:p>
            <a:pPr marL="0" indent="0">
              <a:buNone/>
            </a:pPr>
            <a:r>
              <a:rPr lang="en-US" sz="1300" dirty="0">
                <a:solidFill>
                  <a:srgbClr val="E6E9EE"/>
                </a:solidFill>
                <a:latin typeface="Courier New" pitchFamily="34" charset="0"/>
                <a:ea typeface="Courier New" pitchFamily="34" charset="-122"/>
                <a:cs typeface="Courier New" pitchFamily="34" charset="-120"/>
              </a:rPr>
              <a:t>  business(id: $businessId) {</a:t>
            </a:r>
            <a:endParaRPr lang="en-US" sz="1300" dirty="0"/>
          </a:p>
          <a:p>
            <a:pPr marL="0" indent="0">
              <a:buNone/>
            </a:pPr>
            <a:r>
              <a:rPr lang="en-US" sz="1300" dirty="0">
                <a:solidFill>
                  <a:srgbClr val="E6E9EE"/>
                </a:solidFill>
                <a:latin typeface="Courier New" pitchFamily="34" charset="0"/>
                <a:ea typeface="Courier New" pitchFamily="34" charset="-122"/>
                <a:cs typeface="Courier New" pitchFamily="34" charset="-120"/>
              </a:rPr>
              <a:t>    customers(page: $page,</a:t>
            </a:r>
            <a:endParaRPr lang="en-US" sz="1300" dirty="0"/>
          </a:p>
          <a:p>
            <a:pPr marL="0" indent="0">
              <a:buNone/>
            </a:pPr>
            <a:r>
              <a:rPr lang="en-US" sz="1300" dirty="0">
                <a:solidFill>
                  <a:srgbClr val="E6E9EE"/>
                </a:solidFill>
                <a:latin typeface="Courier New" pitchFamily="34" charset="0"/>
                <a:ea typeface="Courier New" pitchFamily="34" charset="-122"/>
                <a:cs typeface="Courier New" pitchFamily="34" charset="-120"/>
              </a:rPr>
              <a:t>        pageSize: $pageSize,</a:t>
            </a:r>
            <a:endParaRPr lang="en-US" sz="1300" dirty="0"/>
          </a:p>
          <a:p>
            <a:pPr marL="0" indent="0">
              <a:buNone/>
            </a:pPr>
            <a:r>
              <a:rPr lang="en-US" sz="1300" dirty="0">
                <a:solidFill>
                  <a:srgbClr val="E6E9EE"/>
                </a:solidFill>
                <a:latin typeface="Courier New" pitchFamily="34" charset="0"/>
                <a:ea typeface="Courier New" pitchFamily="34" charset="-122"/>
                <a:cs typeface="Courier New" pitchFamily="34" charset="-120"/>
              </a:rPr>
              <a:t>        sort: [NAME_ASC]) {</a:t>
            </a:r>
            <a:endParaRPr lang="en-US" sz="1300" dirty="0"/>
          </a:p>
          <a:p>
            <a:pPr marL="0" indent="0">
              <a:buNone/>
            </a:pPr>
            <a:r>
              <a:rPr lang="en-US" sz="1300" dirty="0">
                <a:solidFill>
                  <a:srgbClr val="E6E9EE"/>
                </a:solidFill>
                <a:latin typeface="Courier New" pitchFamily="34" charset="0"/>
                <a:ea typeface="Courier New" pitchFamily="34" charset="-122"/>
                <a:cs typeface="Courier New" pitchFamily="34" charset="-120"/>
              </a:rPr>
              <a:t>      pageInfo { currentPage totalPages }</a:t>
            </a:r>
            <a:endParaRPr lang="en-US" sz="1300" dirty="0"/>
          </a:p>
          <a:p>
            <a:pPr marL="0" indent="0">
              <a:buNone/>
            </a:pPr>
            <a:r>
              <a:rPr lang="en-US" sz="1300" dirty="0">
                <a:solidFill>
                  <a:srgbClr val="E6E9EE"/>
                </a:solidFill>
                <a:latin typeface="Courier New" pitchFamily="34" charset="0"/>
                <a:ea typeface="Courier New" pitchFamily="34" charset="-122"/>
                <a:cs typeface="Courier New" pitchFamily="34" charset="-120"/>
              </a:rPr>
              <a:t>      edges { node {</a:t>
            </a:r>
            <a:endParaRPr lang="en-US" sz="1300" dirty="0"/>
          </a:p>
          <a:p>
            <a:pPr marL="0" indent="0">
              <a:buNone/>
            </a:pPr>
            <a:r>
              <a:rPr lang="en-US" sz="1300" dirty="0">
                <a:solidFill>
                  <a:srgbClr val="E6E9EE"/>
                </a:solidFill>
                <a:latin typeface="Courier New" pitchFamily="34" charset="0"/>
                <a:ea typeface="Courier New" pitchFamily="34" charset="-122"/>
                <a:cs typeface="Courier New" pitchFamily="34" charset="-120"/>
              </a:rPr>
              <a:t>        id name email phone mobile</a:t>
            </a:r>
            <a:endParaRPr lang="en-US" sz="1300" dirty="0"/>
          </a:p>
          <a:p>
            <a:pPr marL="0" indent="0">
              <a:buNone/>
            </a:pPr>
            <a:r>
              <a:rPr lang="en-US" sz="1300" dirty="0">
                <a:solidFill>
                  <a:srgbClr val="E6E9EE"/>
                </a:solidFill>
                <a:latin typeface="Courier New" pitchFamily="34" charset="0"/>
                <a:ea typeface="Courier New" pitchFamily="34" charset="-122"/>
                <a:cs typeface="Courier New" pitchFamily="34" charset="-120"/>
              </a:rPr>
              <a:t>        address { city</a:t>
            </a:r>
            <a:endParaRPr lang="en-US" sz="1300" dirty="0"/>
          </a:p>
          <a:p>
            <a:pPr marL="0" indent="0">
              <a:buNone/>
            </a:pPr>
            <a:r>
              <a:rPr lang="en-US" sz="1300" dirty="0">
                <a:solidFill>
                  <a:srgbClr val="E6E9EE"/>
                </a:solidFill>
                <a:latin typeface="Courier New" pitchFamily="34" charset="0"/>
                <a:ea typeface="Courier New" pitchFamily="34" charset="-122"/>
                <a:cs typeface="Courier New" pitchFamily="34" charset="-120"/>
              </a:rPr>
              <a:t>          province { code } }</a:t>
            </a:r>
            <a:endParaRPr lang="en-US" sz="1300" dirty="0"/>
          </a:p>
          <a:p>
            <a:pPr marL="0" indent="0">
              <a:buNone/>
            </a:pPr>
            <a:r>
              <a:rPr lang="en-US" sz="1300" dirty="0">
                <a:solidFill>
                  <a:srgbClr val="E6E9EE"/>
                </a:solidFill>
                <a:latin typeface="Courier New" pitchFamily="34" charset="0"/>
                <a:ea typeface="Courier New" pitchFamily="34" charset="-122"/>
                <a:cs typeface="Courier New" pitchFamily="34" charset="-120"/>
              </a:rPr>
              <a:t>      } }</a:t>
            </a:r>
            <a:endParaRPr lang="en-US" sz="1300" dirty="0"/>
          </a:p>
          <a:p>
            <a:pPr marL="0" indent="0">
              <a:buNone/>
            </a:pPr>
            <a:r>
              <a:rPr lang="en-US" sz="1300" dirty="0">
                <a:solidFill>
                  <a:srgbClr val="E6E9EE"/>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E6E9EE"/>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E6E9EE"/>
                </a:solidFill>
                <a:latin typeface="Courier New" pitchFamily="34" charset="0"/>
                <a:ea typeface="Courier New" pitchFamily="34" charset="-122"/>
                <a:cs typeface="Courier New" pitchFamily="34" charset="-120"/>
              </a:rPr>
              <a:t>}</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RAD Server circle"/>
          <p:cNvSpPr/>
          <p:nvPr/>
        </p:nvSpPr>
        <p:spPr>
          <a:xfrm>
            <a:off x="548640" y="457200"/>
            <a:ext cx="685800" cy="685800"/>
          </a:xfrm>
          <a:prstGeom prst="ellipse">
            <a:avLst/>
          </a:prstGeom>
          <a:solidFill>
            <a:schemeClr val="accent2"/>
          </a:solidFill>
          <a:ln w="12700">
            <a:solidFill>
              <a:schemeClr val="accent2"/>
            </a:solidFill>
            <a:prstDash val="solid"/>
          </a:ln>
        </p:spPr>
      </p:sp>
      <p:pic>
        <p:nvPicPr>
          <p:cNvPr id="3" name="RAD Server icon" descr="RAD Server"/>
          <p:cNvPicPr>
            <a:picLocks noChangeAspect="1"/>
          </p:cNvPicPr>
          <p:nvPr/>
        </p:nvPicPr>
        <p:blipFill>
          <a:blip r:embed="rId3"/>
          <a:stretch>
            <a:fillRect/>
          </a:stretch>
        </p:blipFill>
        <p:spPr>
          <a:xfrm>
            <a:off x="699516" y="608076"/>
            <a:ext cx="384048" cy="384048"/>
          </a:xfrm>
          <a:prstGeom prst="rect">
            <a:avLst/>
          </a:prstGeom>
        </p:spPr>
      </p:pic>
      <p:sp>
        <p:nvSpPr>
          <p:cNvPr id="4" name="Text 0"/>
          <p:cNvSpPr>
            <a:spLocks noGrp="1"/>
          </p:cNvSpPr>
          <p:nvPr>
            <p:ph type="title" idx="100" hasCustomPrompt="1"/>
          </p:nvPr>
        </p:nvSpPr>
        <p:spPr>
          <a:xfrm>
            <a:off x="1417320" y="411480"/>
            <a:ext cx="10241280" cy="77724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RAD Server module: REST over Firebird</a:t>
            </a:r>
            <a:endParaRPr lang="en-US" sz="3600" dirty="0"/>
          </a:p>
        </p:txBody>
      </p:sp>
      <p:sp>
        <p:nvSpPr>
          <p:cNvPr id="5" name="shared circle"/>
          <p:cNvSpPr/>
          <p:nvPr/>
        </p:nvSpPr>
        <p:spPr>
          <a:xfrm>
            <a:off x="548640" y="1627632"/>
            <a:ext cx="502920" cy="502920"/>
          </a:xfrm>
          <a:prstGeom prst="ellipse">
            <a:avLst/>
          </a:prstGeom>
          <a:solidFill>
            <a:srgbClr val="0E7C7B">
              <a:alpha val="15000"/>
            </a:srgbClr>
          </a:solidFill>
          <a:ln w="12700">
            <a:solidFill>
              <a:srgbClr val="0E7C7B"/>
            </a:solidFill>
            <a:prstDash val="solid"/>
          </a:ln>
        </p:spPr>
      </p:sp>
      <p:pic>
        <p:nvPicPr>
          <p:cNvPr id="6" name="shared icon" descr="Shared with the sync tool"/>
          <p:cNvPicPr>
            <a:picLocks noChangeAspect="1"/>
          </p:cNvPicPr>
          <p:nvPr/>
        </p:nvPicPr>
        <p:blipFill>
          <a:blip r:embed="rId4"/>
          <a:stretch>
            <a:fillRect/>
          </a:stretch>
        </p:blipFill>
        <p:spPr>
          <a:xfrm>
            <a:off x="658368" y="1737360"/>
            <a:ext cx="283464" cy="283464"/>
          </a:xfrm>
          <a:prstGeom prst="rect">
            <a:avLst/>
          </a:prstGeom>
        </p:spPr>
      </p:pic>
      <p:sp>
        <p:nvSpPr>
          <p:cNvPr id="7" name="shared text"/>
          <p:cNvSpPr txBox="1"/>
          <p:nvPr/>
        </p:nvSpPr>
        <p:spPr>
          <a:xfrm>
            <a:off x="1280160" y="1600200"/>
            <a:ext cx="4663440" cy="91440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Shared with the sync tool</a:t>
            </a:r>
            <a:endParaRPr lang="en-US" sz="1700" dirty="0"/>
          </a:p>
          <a:p>
            <a:pPr marL="0" indent="0">
              <a:spcAft>
                <a:spcPts val="200"/>
              </a:spcAft>
              <a:buNone/>
            </a:pPr>
            <a:r>
              <a:rPr lang="en-US" sz="1400" dirty="0">
                <a:solidFill>
                  <a:srgbClr val="4A5560"/>
                </a:solidFill>
              </a:rPr>
              <a:t>The same data module and Wave client units run in the console app and the package.</a:t>
            </a:r>
            <a:endParaRPr lang="en-US" sz="1700" dirty="0"/>
          </a:p>
        </p:txBody>
      </p:sp>
      <p:sp>
        <p:nvSpPr>
          <p:cNvPr id="8" name="pool circle"/>
          <p:cNvSpPr/>
          <p:nvPr/>
        </p:nvSpPr>
        <p:spPr>
          <a:xfrm>
            <a:off x="548640" y="2770632"/>
            <a:ext cx="502920" cy="502920"/>
          </a:xfrm>
          <a:prstGeom prst="ellipse">
            <a:avLst/>
          </a:prstGeom>
          <a:solidFill>
            <a:srgbClr val="0E7C7B">
              <a:alpha val="15000"/>
            </a:srgbClr>
          </a:solidFill>
          <a:ln w="12700">
            <a:solidFill>
              <a:srgbClr val="0E7C7B"/>
            </a:solidFill>
            <a:prstDash val="solid"/>
          </a:ln>
        </p:spPr>
      </p:sp>
      <p:pic>
        <p:nvPicPr>
          <p:cNvPr id="9" name="pool icon" descr="One data module per request"/>
          <p:cNvPicPr>
            <a:picLocks noChangeAspect="1"/>
          </p:cNvPicPr>
          <p:nvPr/>
        </p:nvPicPr>
        <p:blipFill>
          <a:blip r:embed="rId5"/>
          <a:stretch>
            <a:fillRect/>
          </a:stretch>
        </p:blipFill>
        <p:spPr>
          <a:xfrm>
            <a:off x="658368" y="2880360"/>
            <a:ext cx="283464" cy="283464"/>
          </a:xfrm>
          <a:prstGeom prst="rect">
            <a:avLst/>
          </a:prstGeom>
        </p:spPr>
      </p:pic>
      <p:sp>
        <p:nvSpPr>
          <p:cNvPr id="10" name="pool text"/>
          <p:cNvSpPr txBox="1"/>
          <p:nvPr/>
        </p:nvSpPr>
        <p:spPr>
          <a:xfrm>
            <a:off x="1280160" y="2743200"/>
            <a:ext cx="4663440" cy="91440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One data module per request</a:t>
            </a:r>
            <a:endParaRPr lang="en-US" sz="1700" dirty="0"/>
          </a:p>
          <a:p>
            <a:pPr marL="0" indent="0">
              <a:spcAft>
                <a:spcPts val="200"/>
              </a:spcAft>
              <a:buNone/>
            </a:pPr>
            <a:r>
              <a:rPr lang="en-US" sz="1400" dirty="0">
                <a:solidFill>
                  <a:srgbClr val="4A5560"/>
                </a:solidFill>
              </a:rPr>
              <a:t>Each resource borrows a pooled FireDAC connection (25 max) and hands it back.</a:t>
            </a:r>
            <a:endParaRPr lang="en-US" sz="1700" dirty="0"/>
          </a:p>
        </p:txBody>
      </p:sp>
      <p:sp>
        <p:nvSpPr>
          <p:cNvPr id="11" name="sql circle"/>
          <p:cNvSpPr/>
          <p:nvPr/>
        </p:nvSpPr>
        <p:spPr>
          <a:xfrm>
            <a:off x="548640" y="3913632"/>
            <a:ext cx="502920" cy="502920"/>
          </a:xfrm>
          <a:prstGeom prst="ellipse">
            <a:avLst/>
          </a:prstGeom>
          <a:solidFill>
            <a:srgbClr val="0E7C7B">
              <a:alpha val="15000"/>
            </a:srgbClr>
          </a:solidFill>
          <a:ln w="12700">
            <a:solidFill>
              <a:srgbClr val="0E7C7B"/>
            </a:solidFill>
            <a:prstDash val="solid"/>
          </a:ln>
        </p:spPr>
      </p:sp>
      <p:pic>
        <p:nvPicPr>
          <p:cNvPr id="12" name="sql icon" descr="SQL in TFDQuery components"/>
          <p:cNvPicPr>
            <a:picLocks noChangeAspect="1"/>
          </p:cNvPicPr>
          <p:nvPr/>
        </p:nvPicPr>
        <p:blipFill>
          <a:blip r:embed="rId6"/>
          <a:stretch>
            <a:fillRect/>
          </a:stretch>
        </p:blipFill>
        <p:spPr>
          <a:xfrm>
            <a:off x="658368" y="4023360"/>
            <a:ext cx="283464" cy="283464"/>
          </a:xfrm>
          <a:prstGeom prst="rect">
            <a:avLst/>
          </a:prstGeom>
        </p:spPr>
      </p:pic>
      <p:sp>
        <p:nvSpPr>
          <p:cNvPr id="13" name="sql text"/>
          <p:cNvSpPr txBox="1"/>
          <p:nvPr/>
        </p:nvSpPr>
        <p:spPr>
          <a:xfrm>
            <a:off x="1280160" y="3886200"/>
            <a:ext cx="4663440" cy="91440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SQL in TFDQuery components</a:t>
            </a:r>
            <a:endParaRPr lang="en-US" sz="1700" dirty="0"/>
          </a:p>
          <a:p>
            <a:pPr marL="0" indent="0">
              <a:spcAft>
                <a:spcPts val="200"/>
              </a:spcAft>
              <a:buNone/>
            </a:pPr>
            <a:r>
              <a:rPr lang="en-US" sz="1400" dirty="0">
                <a:solidFill>
                  <a:srgbClr val="4A5560"/>
                </a:solidFill>
              </a:rPr>
              <a:t>Queries live on the data module at design time, so the resource code stays small.</a:t>
            </a:r>
            <a:endParaRPr lang="en-US" sz="1700" dirty="0"/>
          </a:p>
        </p:txBody>
      </p:sp>
      <p:sp>
        <p:nvSpPr>
          <p:cNvPr id="14" name="triggers circle"/>
          <p:cNvSpPr/>
          <p:nvPr/>
        </p:nvSpPr>
        <p:spPr>
          <a:xfrm>
            <a:off x="548640" y="5056632"/>
            <a:ext cx="502920" cy="502920"/>
          </a:xfrm>
          <a:prstGeom prst="ellipse">
            <a:avLst/>
          </a:prstGeom>
          <a:solidFill>
            <a:srgbClr val="0E7C7B">
              <a:alpha val="15000"/>
            </a:srgbClr>
          </a:solidFill>
          <a:ln w="12700">
            <a:solidFill>
              <a:srgbClr val="0E7C7B"/>
            </a:solidFill>
            <a:prstDash val="solid"/>
          </a:ln>
        </p:spPr>
      </p:sp>
      <p:pic>
        <p:nvPicPr>
          <p:cNvPr id="15" name="triggers icon" descr="Triggers keep the history"/>
          <p:cNvPicPr>
            <a:picLocks noChangeAspect="1"/>
          </p:cNvPicPr>
          <p:nvPr/>
        </p:nvPicPr>
        <p:blipFill>
          <a:blip r:embed="rId7"/>
          <a:stretch>
            <a:fillRect/>
          </a:stretch>
        </p:blipFill>
        <p:spPr>
          <a:xfrm>
            <a:off x="658368" y="5166360"/>
            <a:ext cx="283464" cy="283464"/>
          </a:xfrm>
          <a:prstGeom prst="rect">
            <a:avLst/>
          </a:prstGeom>
        </p:spPr>
      </p:pic>
      <p:sp>
        <p:nvSpPr>
          <p:cNvPr id="16" name="triggers text"/>
          <p:cNvSpPr txBox="1"/>
          <p:nvPr/>
        </p:nvSpPr>
        <p:spPr>
          <a:xfrm>
            <a:off x="1280160" y="5029200"/>
            <a:ext cx="4663440" cy="91440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Triggers keep the history</a:t>
            </a:r>
            <a:endParaRPr lang="en-US" sz="1700" dirty="0"/>
          </a:p>
          <a:p>
            <a:pPr marL="0" indent="0">
              <a:spcAft>
                <a:spcPts val="200"/>
              </a:spcAft>
              <a:buNone/>
            </a:pPr>
            <a:r>
              <a:rPr lang="en-US" sz="1400" dirty="0">
                <a:solidFill>
                  <a:srgbClr val="4A5560"/>
                </a:solidFill>
              </a:rPr>
              <a:t>Firebird logs every change to type, status, email and more, whoever made it.</a:t>
            </a:r>
            <a:endParaRPr lang="en-US" sz="1700" dirty="0"/>
          </a:p>
        </p:txBody>
      </p:sp>
      <p:sp>
        <p:nvSpPr>
          <p:cNvPr id="17" name="customers card"/>
          <p:cNvSpPr/>
          <p:nvPr/>
        </p:nvSpPr>
        <p:spPr>
          <a:xfrm>
            <a:off x="6400800" y="1600200"/>
            <a:ext cx="2505456" cy="1252728"/>
          </a:xfrm>
          <a:prstGeom prst="roundRect">
            <a:avLst>
              <a:gd name="adj" fmla="val 8759"/>
            </a:avLst>
          </a:prstGeom>
          <a:solidFill>
            <a:srgbClr val="F1F3F6"/>
          </a:solidFill>
          <a:ln w="12700">
            <a:solidFill>
              <a:srgbClr val="F1F3F6"/>
            </a:solidFill>
            <a:prstDash val="solid"/>
          </a:ln>
          <a:effectLst>
            <a:outerShdw blurRad="101600" dist="25400" dir="5400000" algn="bl" rotWithShape="0">
              <a:srgbClr val="000000">
                <a:alpha val="12000"/>
              </a:srgbClr>
            </a:outerShdw>
          </a:effectLst>
        </p:spPr>
      </p:sp>
      <p:sp>
        <p:nvSpPr>
          <p:cNvPr id="18" name="customers text"/>
          <p:cNvSpPr txBox="1"/>
          <p:nvPr/>
        </p:nvSpPr>
        <p:spPr>
          <a:xfrm>
            <a:off x="6629400" y="1801368"/>
            <a:ext cx="2048256" cy="850392"/>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latin typeface="Courier New" pitchFamily="34" charset="0"/>
                <a:ea typeface="Courier New" pitchFamily="34" charset="-122"/>
                <a:cs typeface="Courier New" pitchFamily="34" charset="-120"/>
              </a:rPr>
              <a:t>/customers</a:t>
            </a:r>
            <a:endParaRPr lang="en-US" sz="1600" dirty="0"/>
          </a:p>
          <a:p>
            <a:pPr marL="0" indent="0">
              <a:spcAft>
                <a:spcPts val="400"/>
              </a:spcAft>
              <a:buNone/>
            </a:pPr>
            <a:r>
              <a:rPr lang="en-US" sz="1400" dirty="0">
                <a:solidFill>
                  <a:srgbClr val="4A5560"/>
                </a:solidFill>
              </a:rPr>
              <a:t>search, detail, edit</a:t>
            </a:r>
            <a:endParaRPr lang="en-US" sz="1600" dirty="0"/>
          </a:p>
          <a:p>
            <a:pPr marL="0" indent="0">
              <a:spcAft>
                <a:spcPts val="400"/>
              </a:spcAft>
              <a:buNone/>
            </a:pPr>
            <a:r>
              <a:rPr lang="en-US" sz="1200" dirty="0">
                <a:solidFill>
                  <a:srgbClr val="868E96"/>
                </a:solidFill>
                <a:latin typeface="Courier New" pitchFamily="34" charset="0"/>
                <a:ea typeface="Courier New" pitchFamily="34" charset="-122"/>
                <a:cs typeface="Courier New" pitchFamily="34" charset="-120"/>
              </a:rPr>
              <a:t>GET  PUT  DELETE</a:t>
            </a:r>
            <a:endParaRPr lang="en-US" sz="1600" dirty="0"/>
          </a:p>
        </p:txBody>
      </p:sp>
      <p:sp>
        <p:nvSpPr>
          <p:cNvPr id="19" name="contacts card"/>
          <p:cNvSpPr/>
          <p:nvPr/>
        </p:nvSpPr>
        <p:spPr>
          <a:xfrm>
            <a:off x="9134856" y="1600200"/>
            <a:ext cx="2505456" cy="1252728"/>
          </a:xfrm>
          <a:prstGeom prst="roundRect">
            <a:avLst>
              <a:gd name="adj" fmla="val 8759"/>
            </a:avLst>
          </a:prstGeom>
          <a:solidFill>
            <a:srgbClr val="F1F3F6"/>
          </a:solidFill>
          <a:ln w="12700">
            <a:solidFill>
              <a:srgbClr val="F1F3F6"/>
            </a:solidFill>
            <a:prstDash val="solid"/>
          </a:ln>
          <a:effectLst>
            <a:outerShdw blurRad="101600" dist="25400" dir="5400000" algn="bl" rotWithShape="0">
              <a:srgbClr val="000000">
                <a:alpha val="12000"/>
              </a:srgbClr>
            </a:outerShdw>
          </a:effectLst>
        </p:spPr>
      </p:sp>
      <p:sp>
        <p:nvSpPr>
          <p:cNvPr id="20" name="contacts text"/>
          <p:cNvSpPr txBox="1"/>
          <p:nvPr/>
        </p:nvSpPr>
        <p:spPr>
          <a:xfrm>
            <a:off x="9363456" y="1801368"/>
            <a:ext cx="2048256" cy="850392"/>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latin typeface="Courier New" pitchFamily="34" charset="0"/>
                <a:ea typeface="Courier New" pitchFamily="34" charset="-122"/>
                <a:cs typeface="Courier New" pitchFamily="34" charset="-120"/>
              </a:rPr>
              <a:t>/contacts</a:t>
            </a:r>
            <a:endParaRPr lang="en-US" sz="1600" dirty="0"/>
          </a:p>
          <a:p>
            <a:pPr marL="0" indent="0">
              <a:spcAft>
                <a:spcPts val="400"/>
              </a:spcAft>
              <a:buNone/>
            </a:pPr>
            <a:r>
              <a:rPr lang="en-US" sz="1400" dirty="0">
                <a:solidFill>
                  <a:srgbClr val="4A5560"/>
                </a:solidFill>
              </a:rPr>
              <a:t>extra people</a:t>
            </a:r>
            <a:endParaRPr lang="en-US" sz="1600" dirty="0"/>
          </a:p>
          <a:p>
            <a:pPr marL="0" indent="0">
              <a:spcAft>
                <a:spcPts val="400"/>
              </a:spcAft>
              <a:buNone/>
            </a:pPr>
            <a:r>
              <a:rPr lang="en-US" sz="1200" dirty="0">
                <a:solidFill>
                  <a:srgbClr val="868E96"/>
                </a:solidFill>
                <a:latin typeface="Courier New" pitchFamily="34" charset="0"/>
                <a:ea typeface="Courier New" pitchFamily="34" charset="-122"/>
                <a:cs typeface="Courier New" pitchFamily="34" charset="-120"/>
              </a:rPr>
              <a:t>POST  PUT  DELETE</a:t>
            </a:r>
            <a:endParaRPr lang="en-US" sz="1600" dirty="0"/>
          </a:p>
        </p:txBody>
      </p:sp>
      <p:sp>
        <p:nvSpPr>
          <p:cNvPr id="21" name="customerlog card"/>
          <p:cNvSpPr/>
          <p:nvPr/>
        </p:nvSpPr>
        <p:spPr>
          <a:xfrm>
            <a:off x="6400800" y="3081528"/>
            <a:ext cx="2505456" cy="1252728"/>
          </a:xfrm>
          <a:prstGeom prst="roundRect">
            <a:avLst>
              <a:gd name="adj" fmla="val 8759"/>
            </a:avLst>
          </a:prstGeom>
          <a:solidFill>
            <a:srgbClr val="F1F3F6"/>
          </a:solidFill>
          <a:ln w="12700">
            <a:solidFill>
              <a:srgbClr val="F1F3F6"/>
            </a:solidFill>
            <a:prstDash val="solid"/>
          </a:ln>
          <a:effectLst>
            <a:outerShdw blurRad="101600" dist="25400" dir="5400000" algn="bl" rotWithShape="0">
              <a:srgbClr val="000000">
                <a:alpha val="12000"/>
              </a:srgbClr>
            </a:outerShdw>
          </a:effectLst>
        </p:spPr>
      </p:sp>
      <p:sp>
        <p:nvSpPr>
          <p:cNvPr id="22" name="customerlog text"/>
          <p:cNvSpPr txBox="1"/>
          <p:nvPr/>
        </p:nvSpPr>
        <p:spPr>
          <a:xfrm>
            <a:off x="6629400" y="3282696"/>
            <a:ext cx="2048256" cy="850392"/>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latin typeface="Courier New" pitchFamily="34" charset="0"/>
                <a:ea typeface="Courier New" pitchFamily="34" charset="-122"/>
                <a:cs typeface="Courier New" pitchFamily="34" charset="-120"/>
              </a:rPr>
              <a:t>/customerlog</a:t>
            </a:r>
            <a:endParaRPr lang="en-US" sz="1600" dirty="0"/>
          </a:p>
          <a:p>
            <a:pPr marL="0" indent="0">
              <a:spcAft>
                <a:spcPts val="400"/>
              </a:spcAft>
              <a:buNone/>
            </a:pPr>
            <a:r>
              <a:rPr lang="en-US" sz="1400" dirty="0">
                <a:solidFill>
                  <a:srgbClr val="4A5560"/>
                </a:solidFill>
              </a:rPr>
              <a:t>manual history entries</a:t>
            </a:r>
            <a:endParaRPr lang="en-US" sz="1600" dirty="0"/>
          </a:p>
          <a:p>
            <a:pPr marL="0" indent="0">
              <a:spcAft>
                <a:spcPts val="400"/>
              </a:spcAft>
              <a:buNone/>
            </a:pPr>
            <a:r>
              <a:rPr lang="en-US" sz="1200" dirty="0">
                <a:solidFill>
                  <a:srgbClr val="868E96"/>
                </a:solidFill>
                <a:latin typeface="Courier New" pitchFamily="34" charset="0"/>
                <a:ea typeface="Courier New" pitchFamily="34" charset="-122"/>
                <a:cs typeface="Courier New" pitchFamily="34" charset="-120"/>
              </a:rPr>
              <a:t>POST  PUT  DELETE</a:t>
            </a:r>
            <a:endParaRPr lang="en-US" sz="1600" dirty="0"/>
          </a:p>
        </p:txBody>
      </p:sp>
      <p:sp>
        <p:nvSpPr>
          <p:cNvPr id="23" name="lookups card"/>
          <p:cNvSpPr/>
          <p:nvPr/>
        </p:nvSpPr>
        <p:spPr>
          <a:xfrm>
            <a:off x="9134856" y="3081528"/>
            <a:ext cx="2505456" cy="1252728"/>
          </a:xfrm>
          <a:prstGeom prst="roundRect">
            <a:avLst>
              <a:gd name="adj" fmla="val 8759"/>
            </a:avLst>
          </a:prstGeom>
          <a:solidFill>
            <a:srgbClr val="F1F3F6"/>
          </a:solidFill>
          <a:ln w="12700">
            <a:solidFill>
              <a:srgbClr val="F1F3F6"/>
            </a:solidFill>
            <a:prstDash val="solid"/>
          </a:ln>
          <a:effectLst>
            <a:outerShdw blurRad="101600" dist="25400" dir="5400000" algn="bl" rotWithShape="0">
              <a:srgbClr val="000000">
                <a:alpha val="12000"/>
              </a:srgbClr>
            </a:outerShdw>
          </a:effectLst>
        </p:spPr>
      </p:sp>
      <p:sp>
        <p:nvSpPr>
          <p:cNvPr id="24" name="lookups text"/>
          <p:cNvSpPr txBox="1"/>
          <p:nvPr/>
        </p:nvSpPr>
        <p:spPr>
          <a:xfrm>
            <a:off x="9363456" y="3282696"/>
            <a:ext cx="2048256" cy="850392"/>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latin typeface="Courier New" pitchFamily="34" charset="0"/>
                <a:ea typeface="Courier New" pitchFamily="34" charset="-122"/>
                <a:cs typeface="Courier New" pitchFamily="34" charset="-120"/>
              </a:rPr>
              <a:t>/lookups</a:t>
            </a:r>
            <a:endParaRPr lang="en-US" sz="1600" dirty="0"/>
          </a:p>
          <a:p>
            <a:pPr marL="0" indent="0">
              <a:spcAft>
                <a:spcPts val="400"/>
              </a:spcAft>
              <a:buNone/>
            </a:pPr>
            <a:r>
              <a:rPr lang="en-US" sz="1400" dirty="0">
                <a:solidFill>
                  <a:srgbClr val="4A5560"/>
                </a:solidFill>
              </a:rPr>
              <a:t>types and statuses</a:t>
            </a:r>
            <a:endParaRPr lang="en-US" sz="1600" dirty="0"/>
          </a:p>
          <a:p>
            <a:pPr marL="0" indent="0">
              <a:spcAft>
                <a:spcPts val="400"/>
              </a:spcAft>
              <a:buNone/>
            </a:pPr>
            <a:r>
              <a:rPr lang="en-US" sz="1200" dirty="0">
                <a:solidFill>
                  <a:srgbClr val="868E96"/>
                </a:solidFill>
                <a:latin typeface="Courier New" pitchFamily="34" charset="0"/>
                <a:ea typeface="Courier New" pitchFamily="34" charset="-122"/>
                <a:cs typeface="Courier New" pitchFamily="34" charset="-120"/>
              </a:rPr>
              <a:t>GET</a:t>
            </a:r>
            <a:endParaRPr lang="en-US" sz="1600" dirty="0"/>
          </a:p>
        </p:txBody>
      </p:sp>
      <p:sp>
        <p:nvSpPr>
          <p:cNvPr id="25" name="emails card"/>
          <p:cNvSpPr/>
          <p:nvPr/>
        </p:nvSpPr>
        <p:spPr>
          <a:xfrm>
            <a:off x="6400800" y="4562856"/>
            <a:ext cx="2505456" cy="1252728"/>
          </a:xfrm>
          <a:prstGeom prst="roundRect">
            <a:avLst>
              <a:gd name="adj" fmla="val 8759"/>
            </a:avLst>
          </a:prstGeom>
          <a:solidFill>
            <a:srgbClr val="F1F3F6"/>
          </a:solidFill>
          <a:ln w="12700">
            <a:solidFill>
              <a:srgbClr val="F1F3F6"/>
            </a:solidFill>
            <a:prstDash val="solid"/>
          </a:ln>
          <a:effectLst>
            <a:outerShdw blurRad="101600" dist="25400" dir="5400000" algn="bl" rotWithShape="0">
              <a:srgbClr val="000000">
                <a:alpha val="12000"/>
              </a:srgbClr>
            </a:outerShdw>
          </a:effectLst>
        </p:spPr>
      </p:sp>
      <p:sp>
        <p:nvSpPr>
          <p:cNvPr id="26" name="emails text"/>
          <p:cNvSpPr txBox="1"/>
          <p:nvPr/>
        </p:nvSpPr>
        <p:spPr>
          <a:xfrm>
            <a:off x="6629400" y="4764024"/>
            <a:ext cx="2048256" cy="850392"/>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latin typeface="Courier New" pitchFamily="34" charset="0"/>
                <a:ea typeface="Courier New" pitchFamily="34" charset="-122"/>
                <a:cs typeface="Courier New" pitchFamily="34" charset="-120"/>
              </a:rPr>
              <a:t>/emails</a:t>
            </a:r>
            <a:endParaRPr lang="en-US" sz="1600" dirty="0"/>
          </a:p>
          <a:p>
            <a:pPr marL="0" indent="0">
              <a:spcAft>
                <a:spcPts val="400"/>
              </a:spcAft>
              <a:buNone/>
            </a:pPr>
            <a:r>
              <a:rPr lang="en-US" sz="1400" dirty="0">
                <a:solidFill>
                  <a:srgbClr val="4A5560"/>
                </a:solidFill>
              </a:rPr>
              <a:t>BCC list for a filter</a:t>
            </a:r>
            <a:endParaRPr lang="en-US" sz="1600" dirty="0"/>
          </a:p>
          <a:p>
            <a:pPr marL="0" indent="0">
              <a:spcAft>
                <a:spcPts val="400"/>
              </a:spcAft>
              <a:buNone/>
            </a:pPr>
            <a:r>
              <a:rPr lang="en-US" sz="1200" dirty="0">
                <a:solidFill>
                  <a:srgbClr val="868E96"/>
                </a:solidFill>
                <a:latin typeface="Courier New" pitchFamily="34" charset="0"/>
                <a:ea typeface="Courier New" pitchFamily="34" charset="-122"/>
                <a:cs typeface="Courier New" pitchFamily="34" charset="-120"/>
              </a:rPr>
              <a:t>GET</a:t>
            </a:r>
            <a:endParaRPr lang="en-US" sz="1600" dirty="0"/>
          </a:p>
        </p:txBody>
      </p:sp>
      <p:sp>
        <p:nvSpPr>
          <p:cNvPr id="27" name="sync card"/>
          <p:cNvSpPr/>
          <p:nvPr/>
        </p:nvSpPr>
        <p:spPr>
          <a:xfrm>
            <a:off x="9134856" y="4562856"/>
            <a:ext cx="2505456" cy="1252728"/>
          </a:xfrm>
          <a:prstGeom prst="roundRect">
            <a:avLst>
              <a:gd name="adj" fmla="val 8759"/>
            </a:avLst>
          </a:prstGeom>
          <a:solidFill>
            <a:srgbClr val="F1F3F6"/>
          </a:solidFill>
          <a:ln w="12700">
            <a:solidFill>
              <a:srgbClr val="F1F3F6"/>
            </a:solidFill>
            <a:prstDash val="solid"/>
          </a:ln>
          <a:effectLst>
            <a:outerShdw blurRad="101600" dist="25400" dir="5400000" algn="bl" rotWithShape="0">
              <a:srgbClr val="000000">
                <a:alpha val="12000"/>
              </a:srgbClr>
            </a:outerShdw>
          </a:effectLst>
        </p:spPr>
      </p:sp>
      <p:sp>
        <p:nvSpPr>
          <p:cNvPr id="28" name="sync text"/>
          <p:cNvSpPr txBox="1"/>
          <p:nvPr/>
        </p:nvSpPr>
        <p:spPr>
          <a:xfrm>
            <a:off x="9363456" y="4764024"/>
            <a:ext cx="2048256" cy="850392"/>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latin typeface="Courier New" pitchFamily="34" charset="0"/>
                <a:ea typeface="Courier New" pitchFamily="34" charset="-122"/>
                <a:cs typeface="Courier New" pitchFamily="34" charset="-120"/>
              </a:rPr>
              <a:t>/sync</a:t>
            </a:r>
            <a:endParaRPr lang="en-US" sz="1600" dirty="0"/>
          </a:p>
          <a:p>
            <a:pPr marL="0" indent="0">
              <a:spcAft>
                <a:spcPts val="400"/>
              </a:spcAft>
              <a:buNone/>
            </a:pPr>
            <a:r>
              <a:rPr lang="en-US" sz="1400" dirty="0">
                <a:solidFill>
                  <a:srgbClr val="4A5560"/>
                </a:solidFill>
              </a:rPr>
              <a:t>pull from Wave now</a:t>
            </a:r>
            <a:endParaRPr lang="en-US" sz="1600" dirty="0"/>
          </a:p>
          <a:p>
            <a:pPr marL="0" indent="0">
              <a:spcAft>
                <a:spcPts val="400"/>
              </a:spcAft>
              <a:buNone/>
            </a:pPr>
            <a:r>
              <a:rPr lang="en-US" sz="1200" dirty="0">
                <a:solidFill>
                  <a:srgbClr val="868E96"/>
                </a:solidFill>
                <a:latin typeface="Courier New" pitchFamily="34" charset="0"/>
                <a:ea typeface="Courier New" pitchFamily="34" charset="-122"/>
                <a:cs typeface="Courier New" pitchFamily="34" charset="-120"/>
              </a:rPr>
              <a:t>POST</a:t>
            </a:r>
            <a:endParaRPr lang="en-US" sz="1600" dirty="0"/>
          </a:p>
        </p:txBody>
      </p:sp>
      <p:sp>
        <p:nvSpPr>
          <p:cNvPr id="29"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FireMonkey circle"/>
          <p:cNvSpPr/>
          <p:nvPr/>
        </p:nvSpPr>
        <p:spPr>
          <a:xfrm>
            <a:off x="548640" y="457200"/>
            <a:ext cx="685800" cy="685800"/>
          </a:xfrm>
          <a:prstGeom prst="ellipse">
            <a:avLst/>
          </a:prstGeom>
          <a:solidFill>
            <a:schemeClr val="accent3"/>
          </a:solidFill>
          <a:ln w="12700">
            <a:solidFill>
              <a:schemeClr val="accent3"/>
            </a:solidFill>
            <a:prstDash val="solid"/>
          </a:ln>
        </p:spPr>
      </p:sp>
      <p:pic>
        <p:nvPicPr>
          <p:cNvPr id="3" name="FireMonkey icon" descr="FireMonkey"/>
          <p:cNvPicPr>
            <a:picLocks noChangeAspect="1"/>
          </p:cNvPicPr>
          <p:nvPr/>
        </p:nvPicPr>
        <p:blipFill>
          <a:blip r:embed="rId3"/>
          <a:stretch>
            <a:fillRect/>
          </a:stretch>
        </p:blipFill>
        <p:spPr>
          <a:xfrm>
            <a:off x="699516" y="608076"/>
            <a:ext cx="384048" cy="384048"/>
          </a:xfrm>
          <a:prstGeom prst="rect">
            <a:avLst/>
          </a:prstGeom>
        </p:spPr>
      </p:pic>
      <p:sp>
        <p:nvSpPr>
          <p:cNvPr id="4" name="Text 0"/>
          <p:cNvSpPr>
            <a:spLocks noGrp="1"/>
          </p:cNvSpPr>
          <p:nvPr>
            <p:ph type="title" idx="100" hasCustomPrompt="1"/>
          </p:nvPr>
        </p:nvSpPr>
        <p:spPr>
          <a:xfrm>
            <a:off x="1417320" y="411480"/>
            <a:ext cx="10241280" cy="777240"/>
          </a:xfrm>
          <a:prstGeom prst="rect">
            <a:avLst/>
          </a:prstGeom>
          <a:noFill/>
          <a:ln/>
        </p:spPr>
        <p:txBody>
          <a:bodyPr wrap="square" lIns="0" tIns="0" rIns="0" bIns="0" rtlCol="0" anchor="ctr"/>
          <a:lstStyle/>
          <a:p>
            <a:pPr marL="0" indent="0" algn="l">
              <a:buNone/>
            </a:pPr>
            <a:r>
              <a:rPr lang="en-US" sz="3600" b="1" dirty="0">
                <a:solidFill>
                  <a:schemeClr val="tx1"/>
                </a:solidFill>
                <a:latin typeface="Cambria" pitchFamily="34" charset="0"/>
                <a:ea typeface="Cambria" pitchFamily="34" charset="-122"/>
                <a:cs typeface="Cambria" pitchFamily="34" charset="-120"/>
              </a:rPr>
              <a:t>FireMonkey app: the CRM in my pocket</a:t>
            </a:r>
            <a:endParaRPr lang="en-US" sz="3600" dirty="0"/>
          </a:p>
        </p:txBody>
      </p:sp>
      <p:sp>
        <p:nvSpPr>
          <p:cNvPr id="5" name="phone body"/>
          <p:cNvSpPr/>
          <p:nvPr/>
        </p:nvSpPr>
        <p:spPr>
          <a:xfrm>
            <a:off x="1051560" y="1463040"/>
            <a:ext cx="2514600" cy="4709160"/>
          </a:xfrm>
          <a:prstGeom prst="roundRect">
            <a:avLst>
              <a:gd name="adj" fmla="val 10909"/>
            </a:avLst>
          </a:prstGeom>
          <a:solidFill>
            <a:srgbClr val="1A1D23"/>
          </a:solidFill>
          <a:ln w="12700">
            <a:solidFill>
              <a:srgbClr val="1A1D23"/>
            </a:solidFill>
            <a:prstDash val="solid"/>
          </a:ln>
          <a:effectLst>
            <a:outerShdw blurRad="127000" dist="38100" dir="5400000" algn="bl" rotWithShape="0">
              <a:srgbClr val="000000">
                <a:alpha val="18000"/>
              </a:srgbClr>
            </a:outerShdw>
          </a:effectLst>
        </p:spPr>
      </p:sp>
      <p:sp>
        <p:nvSpPr>
          <p:cNvPr id="6" name="phone screen"/>
          <p:cNvSpPr/>
          <p:nvPr/>
        </p:nvSpPr>
        <p:spPr>
          <a:xfrm>
            <a:off x="1179576" y="1737360"/>
            <a:ext cx="2258568" cy="4160520"/>
          </a:xfrm>
          <a:prstGeom prst="rect">
            <a:avLst/>
          </a:prstGeom>
          <a:solidFill>
            <a:srgbClr val="FFFFFF"/>
          </a:solidFill>
          <a:ln w="12700">
            <a:solidFill>
              <a:srgbClr val="FFFFFF"/>
            </a:solidFill>
            <a:prstDash val="solid"/>
          </a:ln>
        </p:spPr>
      </p:sp>
      <p:sp>
        <p:nvSpPr>
          <p:cNvPr id="7" name="phone toolbar"/>
          <p:cNvSpPr/>
          <p:nvPr/>
        </p:nvSpPr>
        <p:spPr>
          <a:xfrm>
            <a:off x="1179576" y="1737360"/>
            <a:ext cx="2258568" cy="384048"/>
          </a:xfrm>
          <a:prstGeom prst="rect">
            <a:avLst/>
          </a:prstGeom>
          <a:solidFill>
            <a:schemeClr val="accent3"/>
          </a:solidFill>
          <a:ln w="12700">
            <a:solidFill>
              <a:srgbClr val="6741D9"/>
            </a:solidFill>
            <a:prstDash val="solid"/>
          </a:ln>
        </p:spPr>
      </p:sp>
      <p:sp>
        <p:nvSpPr>
          <p:cNvPr id="8" name="phone title"/>
          <p:cNvSpPr txBox="1"/>
          <p:nvPr/>
        </p:nvSpPr>
        <p:spPr>
          <a:xfrm>
            <a:off x="1179576" y="1737360"/>
            <a:ext cx="2258568" cy="384048"/>
          </a:xfrm>
          <a:prstGeom prst="rect">
            <a:avLst/>
          </a:prstGeom>
          <a:noFill/>
          <a:ln/>
        </p:spPr>
        <p:txBody>
          <a:bodyPr wrap="square" lIns="0" tIns="0" rIns="0" bIns="0" rtlCol="0" anchor="ctr"/>
          <a:lstStyle/>
          <a:p>
            <a:pPr marL="0" indent="0" algn="ctr">
              <a:buNone/>
            </a:pPr>
            <a:r>
              <a:rPr lang="en-US" sz="1100" b="1" dirty="0">
                <a:solidFill>
                  <a:srgbClr val="FFFFFF"/>
                </a:solidFill>
              </a:rPr>
              <a:t>Customers</a:t>
            </a:r>
            <a:endParaRPr lang="en-US" sz="1100" dirty="0"/>
          </a:p>
        </p:txBody>
      </p:sp>
      <p:pic>
        <p:nvPicPr>
          <p:cNvPr id="9" name="phone MdInfoOutline" descr="MdInfoOutline"/>
          <p:cNvPicPr>
            <a:picLocks noChangeAspect="1"/>
          </p:cNvPicPr>
          <p:nvPr/>
        </p:nvPicPr>
        <p:blipFill>
          <a:blip r:embed="rId4"/>
          <a:stretch>
            <a:fillRect/>
          </a:stretch>
        </p:blipFill>
        <p:spPr>
          <a:xfrm>
            <a:off x="1252728" y="1828800"/>
            <a:ext cx="201168" cy="201168"/>
          </a:xfrm>
          <a:prstGeom prst="rect">
            <a:avLst/>
          </a:prstGeom>
        </p:spPr>
      </p:pic>
      <p:pic>
        <p:nvPicPr>
          <p:cNvPr id="10" name="phone MdRefresh" descr="MdRefresh"/>
          <p:cNvPicPr>
            <a:picLocks noChangeAspect="1"/>
          </p:cNvPicPr>
          <p:nvPr/>
        </p:nvPicPr>
        <p:blipFill>
          <a:blip r:embed="rId5"/>
          <a:stretch>
            <a:fillRect/>
          </a:stretch>
        </p:blipFill>
        <p:spPr>
          <a:xfrm>
            <a:off x="1490472" y="1828800"/>
            <a:ext cx="201168" cy="201168"/>
          </a:xfrm>
          <a:prstGeom prst="rect">
            <a:avLst/>
          </a:prstGeom>
        </p:spPr>
      </p:pic>
      <p:pic>
        <p:nvPicPr>
          <p:cNvPr id="11" name="phone MdMailOutline" descr="MdMailOutline"/>
          <p:cNvPicPr>
            <a:picLocks noChangeAspect="1"/>
          </p:cNvPicPr>
          <p:nvPr/>
        </p:nvPicPr>
        <p:blipFill>
          <a:blip r:embed="rId6"/>
          <a:stretch>
            <a:fillRect/>
          </a:stretch>
        </p:blipFill>
        <p:spPr>
          <a:xfrm>
            <a:off x="2926080" y="1828800"/>
            <a:ext cx="201168" cy="201168"/>
          </a:xfrm>
          <a:prstGeom prst="rect">
            <a:avLst/>
          </a:prstGeom>
        </p:spPr>
      </p:pic>
      <p:pic>
        <p:nvPicPr>
          <p:cNvPr id="12" name="phone MdSettings" descr="MdSettings"/>
          <p:cNvPicPr>
            <a:picLocks noChangeAspect="1"/>
          </p:cNvPicPr>
          <p:nvPr/>
        </p:nvPicPr>
        <p:blipFill>
          <a:blip r:embed="rId7"/>
          <a:stretch>
            <a:fillRect/>
          </a:stretch>
        </p:blipFill>
        <p:spPr>
          <a:xfrm>
            <a:off x="3163824" y="1828800"/>
            <a:ext cx="201168" cy="201168"/>
          </a:xfrm>
          <a:prstGeom prst="rect">
            <a:avLst/>
          </a:prstGeom>
        </p:spPr>
      </p:pic>
      <p:sp>
        <p:nvSpPr>
          <p:cNvPr id="13" name="phone search"/>
          <p:cNvSpPr/>
          <p:nvPr/>
        </p:nvSpPr>
        <p:spPr>
          <a:xfrm>
            <a:off x="1289304" y="2240280"/>
            <a:ext cx="2039112" cy="274320"/>
          </a:xfrm>
          <a:prstGeom prst="roundRect">
            <a:avLst>
              <a:gd name="adj" fmla="val 20000"/>
            </a:avLst>
          </a:prstGeom>
          <a:solidFill>
            <a:srgbClr val="F1F3F6"/>
          </a:solidFill>
          <a:ln w="9525">
            <a:solidFill>
              <a:srgbClr val="D5DAE0"/>
            </a:solidFill>
            <a:prstDash val="solid"/>
          </a:ln>
        </p:spPr>
      </p:sp>
      <p:sp>
        <p:nvSpPr>
          <p:cNvPr id="14" name="phone filter 0"/>
          <p:cNvSpPr/>
          <p:nvPr/>
        </p:nvSpPr>
        <p:spPr>
          <a:xfrm>
            <a:off x="1289304" y="2606040"/>
            <a:ext cx="992124" cy="256032"/>
          </a:xfrm>
          <a:prstGeom prst="roundRect">
            <a:avLst>
              <a:gd name="adj" fmla="val 21429"/>
            </a:avLst>
          </a:prstGeom>
          <a:solidFill>
            <a:srgbClr val="F1F3F6"/>
          </a:solidFill>
          <a:ln w="9525">
            <a:solidFill>
              <a:srgbClr val="D5DAE0"/>
            </a:solidFill>
            <a:prstDash val="solid"/>
          </a:ln>
        </p:spPr>
      </p:sp>
      <p:sp>
        <p:nvSpPr>
          <p:cNvPr id="15" name="phone filter 1"/>
          <p:cNvSpPr/>
          <p:nvPr/>
        </p:nvSpPr>
        <p:spPr>
          <a:xfrm>
            <a:off x="2336292" y="2606040"/>
            <a:ext cx="992124" cy="256032"/>
          </a:xfrm>
          <a:prstGeom prst="roundRect">
            <a:avLst>
              <a:gd name="adj" fmla="val 21429"/>
            </a:avLst>
          </a:prstGeom>
          <a:solidFill>
            <a:srgbClr val="F1F3F6"/>
          </a:solidFill>
          <a:ln w="9525">
            <a:solidFill>
              <a:srgbClr val="D5DAE0"/>
            </a:solidFill>
            <a:prstDash val="solid"/>
          </a:ln>
        </p:spPr>
      </p:sp>
      <p:sp>
        <p:nvSpPr>
          <p:cNvPr id="16" name="phone filter label 0"/>
          <p:cNvSpPr txBox="1"/>
          <p:nvPr/>
        </p:nvSpPr>
        <p:spPr>
          <a:xfrm>
            <a:off x="1344168" y="2606040"/>
            <a:ext cx="928116" cy="256032"/>
          </a:xfrm>
          <a:prstGeom prst="rect">
            <a:avLst/>
          </a:prstGeom>
          <a:noFill/>
          <a:ln/>
        </p:spPr>
        <p:txBody>
          <a:bodyPr wrap="square" lIns="0" tIns="0" rIns="0" bIns="0" rtlCol="0" anchor="ctr"/>
          <a:lstStyle/>
          <a:p>
            <a:pPr marL="0" indent="0">
              <a:buNone/>
            </a:pPr>
            <a:r>
              <a:rPr lang="en-US" sz="900" dirty="0">
                <a:solidFill>
                  <a:srgbClr val="4A5560"/>
                </a:solidFill>
              </a:rPr>
              <a:t>ABS Cloud</a:t>
            </a:r>
            <a:endParaRPr lang="en-US" sz="900" dirty="0"/>
          </a:p>
        </p:txBody>
      </p:sp>
      <p:sp>
        <p:nvSpPr>
          <p:cNvPr id="17" name="phone filter label 1"/>
          <p:cNvSpPr txBox="1"/>
          <p:nvPr/>
        </p:nvSpPr>
        <p:spPr>
          <a:xfrm>
            <a:off x="2391156" y="2606040"/>
            <a:ext cx="928116" cy="256032"/>
          </a:xfrm>
          <a:prstGeom prst="rect">
            <a:avLst/>
          </a:prstGeom>
          <a:noFill/>
          <a:ln/>
        </p:spPr>
        <p:txBody>
          <a:bodyPr wrap="square" lIns="0" tIns="0" rIns="0" bIns="0" rtlCol="0" anchor="ctr"/>
          <a:lstStyle/>
          <a:p>
            <a:pPr marL="0" indent="0">
              <a:buNone/>
            </a:pPr>
            <a:r>
              <a:rPr lang="en-US" sz="900" dirty="0">
                <a:solidFill>
                  <a:srgbClr val="4A5560"/>
                </a:solidFill>
              </a:rPr>
              <a:t>Active</a:t>
            </a:r>
            <a:endParaRPr lang="en-US" sz="900" dirty="0"/>
          </a:p>
        </p:txBody>
      </p:sp>
      <p:sp>
        <p:nvSpPr>
          <p:cNvPr id="18" name="row title 0"/>
          <p:cNvSpPr/>
          <p:nvPr/>
        </p:nvSpPr>
        <p:spPr>
          <a:xfrm>
            <a:off x="1316736" y="3063240"/>
            <a:ext cx="1242212" cy="91440"/>
          </a:xfrm>
          <a:prstGeom prst="rect">
            <a:avLst/>
          </a:prstGeom>
          <a:solidFill>
            <a:srgbClr val="9AA5B1"/>
          </a:solidFill>
          <a:ln w="12700">
            <a:solidFill>
              <a:srgbClr val="9AA5B1"/>
            </a:solidFill>
            <a:prstDash val="solid"/>
          </a:ln>
        </p:spPr>
      </p:sp>
      <p:sp>
        <p:nvSpPr>
          <p:cNvPr id="19" name="row detail 0"/>
          <p:cNvSpPr/>
          <p:nvPr/>
        </p:nvSpPr>
        <p:spPr>
          <a:xfrm>
            <a:off x="1316736" y="3227832"/>
            <a:ext cx="858256" cy="64008"/>
          </a:xfrm>
          <a:prstGeom prst="rect">
            <a:avLst/>
          </a:prstGeom>
          <a:solidFill>
            <a:srgbClr val="D5DAE0"/>
          </a:solidFill>
          <a:ln w="12700">
            <a:solidFill>
              <a:srgbClr val="D5DAE0"/>
            </a:solidFill>
            <a:prstDash val="solid"/>
          </a:ln>
        </p:spPr>
      </p:sp>
      <p:sp>
        <p:nvSpPr>
          <p:cNvPr id="20" name="row button 0"/>
          <p:cNvSpPr/>
          <p:nvPr/>
        </p:nvSpPr>
        <p:spPr>
          <a:xfrm>
            <a:off x="2871216" y="3044952"/>
            <a:ext cx="438912" cy="237744"/>
          </a:xfrm>
          <a:prstGeom prst="roundRect">
            <a:avLst>
              <a:gd name="adj" fmla="val 19231"/>
            </a:avLst>
          </a:prstGeom>
          <a:solidFill>
            <a:srgbClr val="6741D9">
              <a:alpha val="20000"/>
            </a:srgbClr>
          </a:solidFill>
          <a:ln w="12700">
            <a:solidFill>
              <a:srgbClr val="6741D9"/>
            </a:solidFill>
            <a:prstDash val="solid"/>
          </a:ln>
        </p:spPr>
      </p:sp>
      <p:sp>
        <p:nvSpPr>
          <p:cNvPr id="21" name="row line 0"/>
          <p:cNvSpPr/>
          <p:nvPr/>
        </p:nvSpPr>
        <p:spPr>
          <a:xfrm>
            <a:off x="1316736" y="3429000"/>
            <a:ext cx="1984248" cy="0"/>
          </a:xfrm>
          <a:prstGeom prst="line">
            <a:avLst/>
          </a:prstGeom>
          <a:noFill/>
          <a:ln w="9525">
            <a:solidFill>
              <a:srgbClr val="E6E9EE"/>
            </a:solidFill>
            <a:prstDash val="solid"/>
          </a:ln>
        </p:spPr>
      </p:sp>
      <p:sp>
        <p:nvSpPr>
          <p:cNvPr id="22" name="row title 1"/>
          <p:cNvSpPr/>
          <p:nvPr/>
        </p:nvSpPr>
        <p:spPr>
          <a:xfrm>
            <a:off x="1316736" y="3538728"/>
            <a:ext cx="1242212" cy="91440"/>
          </a:xfrm>
          <a:prstGeom prst="rect">
            <a:avLst/>
          </a:prstGeom>
          <a:solidFill>
            <a:srgbClr val="9AA5B1"/>
          </a:solidFill>
          <a:ln w="12700">
            <a:solidFill>
              <a:srgbClr val="9AA5B1"/>
            </a:solidFill>
            <a:prstDash val="solid"/>
          </a:ln>
        </p:spPr>
      </p:sp>
      <p:sp>
        <p:nvSpPr>
          <p:cNvPr id="23" name="row detail 1"/>
          <p:cNvSpPr/>
          <p:nvPr/>
        </p:nvSpPr>
        <p:spPr>
          <a:xfrm>
            <a:off x="1316736" y="3703320"/>
            <a:ext cx="858256" cy="64008"/>
          </a:xfrm>
          <a:prstGeom prst="rect">
            <a:avLst/>
          </a:prstGeom>
          <a:solidFill>
            <a:srgbClr val="D5DAE0"/>
          </a:solidFill>
          <a:ln w="12700">
            <a:solidFill>
              <a:srgbClr val="D5DAE0"/>
            </a:solidFill>
            <a:prstDash val="solid"/>
          </a:ln>
        </p:spPr>
      </p:sp>
      <p:sp>
        <p:nvSpPr>
          <p:cNvPr id="24" name="row button 1"/>
          <p:cNvSpPr/>
          <p:nvPr/>
        </p:nvSpPr>
        <p:spPr>
          <a:xfrm>
            <a:off x="2871216" y="3520440"/>
            <a:ext cx="438912" cy="237744"/>
          </a:xfrm>
          <a:prstGeom prst="roundRect">
            <a:avLst>
              <a:gd name="adj" fmla="val 19231"/>
            </a:avLst>
          </a:prstGeom>
          <a:solidFill>
            <a:srgbClr val="6741D9">
              <a:alpha val="20000"/>
            </a:srgbClr>
          </a:solidFill>
          <a:ln w="12700">
            <a:solidFill>
              <a:srgbClr val="6741D9"/>
            </a:solidFill>
            <a:prstDash val="solid"/>
          </a:ln>
        </p:spPr>
      </p:sp>
      <p:sp>
        <p:nvSpPr>
          <p:cNvPr id="25" name="row line 1"/>
          <p:cNvSpPr/>
          <p:nvPr/>
        </p:nvSpPr>
        <p:spPr>
          <a:xfrm>
            <a:off x="1316736" y="3904488"/>
            <a:ext cx="1984248" cy="0"/>
          </a:xfrm>
          <a:prstGeom prst="line">
            <a:avLst/>
          </a:prstGeom>
          <a:noFill/>
          <a:ln w="9525">
            <a:solidFill>
              <a:srgbClr val="E6E9EE"/>
            </a:solidFill>
            <a:prstDash val="solid"/>
          </a:ln>
        </p:spPr>
      </p:sp>
      <p:sp>
        <p:nvSpPr>
          <p:cNvPr id="26" name="row title 2"/>
          <p:cNvSpPr/>
          <p:nvPr/>
        </p:nvSpPr>
        <p:spPr>
          <a:xfrm>
            <a:off x="1316736" y="4014216"/>
            <a:ext cx="1242212" cy="91440"/>
          </a:xfrm>
          <a:prstGeom prst="rect">
            <a:avLst/>
          </a:prstGeom>
          <a:solidFill>
            <a:srgbClr val="9AA5B1"/>
          </a:solidFill>
          <a:ln w="12700">
            <a:solidFill>
              <a:srgbClr val="9AA5B1"/>
            </a:solidFill>
            <a:prstDash val="solid"/>
          </a:ln>
        </p:spPr>
      </p:sp>
      <p:sp>
        <p:nvSpPr>
          <p:cNvPr id="27" name="row detail 2"/>
          <p:cNvSpPr/>
          <p:nvPr/>
        </p:nvSpPr>
        <p:spPr>
          <a:xfrm>
            <a:off x="1316736" y="4178808"/>
            <a:ext cx="858256" cy="64008"/>
          </a:xfrm>
          <a:prstGeom prst="rect">
            <a:avLst/>
          </a:prstGeom>
          <a:solidFill>
            <a:srgbClr val="D5DAE0"/>
          </a:solidFill>
          <a:ln w="12700">
            <a:solidFill>
              <a:srgbClr val="D5DAE0"/>
            </a:solidFill>
            <a:prstDash val="solid"/>
          </a:ln>
        </p:spPr>
      </p:sp>
      <p:sp>
        <p:nvSpPr>
          <p:cNvPr id="28" name="row button 2"/>
          <p:cNvSpPr/>
          <p:nvPr/>
        </p:nvSpPr>
        <p:spPr>
          <a:xfrm>
            <a:off x="2871216" y="3995928"/>
            <a:ext cx="438912" cy="237744"/>
          </a:xfrm>
          <a:prstGeom prst="roundRect">
            <a:avLst>
              <a:gd name="adj" fmla="val 19231"/>
            </a:avLst>
          </a:prstGeom>
          <a:solidFill>
            <a:srgbClr val="6741D9">
              <a:alpha val="20000"/>
            </a:srgbClr>
          </a:solidFill>
          <a:ln w="12700">
            <a:solidFill>
              <a:srgbClr val="6741D9"/>
            </a:solidFill>
            <a:prstDash val="solid"/>
          </a:ln>
        </p:spPr>
      </p:sp>
      <p:sp>
        <p:nvSpPr>
          <p:cNvPr id="29" name="row line 2"/>
          <p:cNvSpPr/>
          <p:nvPr/>
        </p:nvSpPr>
        <p:spPr>
          <a:xfrm>
            <a:off x="1316736" y="4379976"/>
            <a:ext cx="1984248" cy="0"/>
          </a:xfrm>
          <a:prstGeom prst="line">
            <a:avLst/>
          </a:prstGeom>
          <a:noFill/>
          <a:ln w="9525">
            <a:solidFill>
              <a:srgbClr val="E6E9EE"/>
            </a:solidFill>
            <a:prstDash val="solid"/>
          </a:ln>
        </p:spPr>
      </p:sp>
      <p:sp>
        <p:nvSpPr>
          <p:cNvPr id="30" name="row title 3"/>
          <p:cNvSpPr/>
          <p:nvPr/>
        </p:nvSpPr>
        <p:spPr>
          <a:xfrm>
            <a:off x="1316736" y="4489704"/>
            <a:ext cx="1242212" cy="91440"/>
          </a:xfrm>
          <a:prstGeom prst="rect">
            <a:avLst/>
          </a:prstGeom>
          <a:solidFill>
            <a:srgbClr val="9AA5B1"/>
          </a:solidFill>
          <a:ln w="12700">
            <a:solidFill>
              <a:srgbClr val="9AA5B1"/>
            </a:solidFill>
            <a:prstDash val="solid"/>
          </a:ln>
        </p:spPr>
      </p:sp>
      <p:sp>
        <p:nvSpPr>
          <p:cNvPr id="31" name="row detail 3"/>
          <p:cNvSpPr/>
          <p:nvPr/>
        </p:nvSpPr>
        <p:spPr>
          <a:xfrm>
            <a:off x="1316736" y="4654296"/>
            <a:ext cx="858256" cy="64008"/>
          </a:xfrm>
          <a:prstGeom prst="rect">
            <a:avLst/>
          </a:prstGeom>
          <a:solidFill>
            <a:srgbClr val="D5DAE0"/>
          </a:solidFill>
          <a:ln w="12700">
            <a:solidFill>
              <a:srgbClr val="D5DAE0"/>
            </a:solidFill>
            <a:prstDash val="solid"/>
          </a:ln>
        </p:spPr>
      </p:sp>
      <p:sp>
        <p:nvSpPr>
          <p:cNvPr id="32" name="row button 3"/>
          <p:cNvSpPr/>
          <p:nvPr/>
        </p:nvSpPr>
        <p:spPr>
          <a:xfrm>
            <a:off x="2871216" y="4471416"/>
            <a:ext cx="438912" cy="237744"/>
          </a:xfrm>
          <a:prstGeom prst="roundRect">
            <a:avLst>
              <a:gd name="adj" fmla="val 19231"/>
            </a:avLst>
          </a:prstGeom>
          <a:solidFill>
            <a:srgbClr val="6741D9">
              <a:alpha val="20000"/>
            </a:srgbClr>
          </a:solidFill>
          <a:ln w="12700">
            <a:solidFill>
              <a:srgbClr val="6741D9"/>
            </a:solidFill>
            <a:prstDash val="solid"/>
          </a:ln>
        </p:spPr>
      </p:sp>
      <p:sp>
        <p:nvSpPr>
          <p:cNvPr id="33" name="row line 3"/>
          <p:cNvSpPr/>
          <p:nvPr/>
        </p:nvSpPr>
        <p:spPr>
          <a:xfrm>
            <a:off x="1316736" y="4855464"/>
            <a:ext cx="1984248" cy="0"/>
          </a:xfrm>
          <a:prstGeom prst="line">
            <a:avLst/>
          </a:prstGeom>
          <a:noFill/>
          <a:ln w="9525">
            <a:solidFill>
              <a:srgbClr val="E6E9EE"/>
            </a:solidFill>
            <a:prstDash val="solid"/>
          </a:ln>
        </p:spPr>
      </p:sp>
      <p:sp>
        <p:nvSpPr>
          <p:cNvPr id="34" name="row title 4"/>
          <p:cNvSpPr/>
          <p:nvPr/>
        </p:nvSpPr>
        <p:spPr>
          <a:xfrm>
            <a:off x="1316736" y="4965192"/>
            <a:ext cx="1242212" cy="91440"/>
          </a:xfrm>
          <a:prstGeom prst="rect">
            <a:avLst/>
          </a:prstGeom>
          <a:solidFill>
            <a:srgbClr val="9AA5B1"/>
          </a:solidFill>
          <a:ln w="12700">
            <a:solidFill>
              <a:srgbClr val="9AA5B1"/>
            </a:solidFill>
            <a:prstDash val="solid"/>
          </a:ln>
        </p:spPr>
      </p:sp>
      <p:sp>
        <p:nvSpPr>
          <p:cNvPr id="35" name="row detail 4"/>
          <p:cNvSpPr/>
          <p:nvPr/>
        </p:nvSpPr>
        <p:spPr>
          <a:xfrm>
            <a:off x="1316736" y="5129784"/>
            <a:ext cx="858256" cy="64008"/>
          </a:xfrm>
          <a:prstGeom prst="rect">
            <a:avLst/>
          </a:prstGeom>
          <a:solidFill>
            <a:srgbClr val="D5DAE0"/>
          </a:solidFill>
          <a:ln w="12700">
            <a:solidFill>
              <a:srgbClr val="D5DAE0"/>
            </a:solidFill>
            <a:prstDash val="solid"/>
          </a:ln>
        </p:spPr>
      </p:sp>
      <p:sp>
        <p:nvSpPr>
          <p:cNvPr id="36" name="row button 4"/>
          <p:cNvSpPr/>
          <p:nvPr/>
        </p:nvSpPr>
        <p:spPr>
          <a:xfrm>
            <a:off x="2871216" y="4946904"/>
            <a:ext cx="438912" cy="237744"/>
          </a:xfrm>
          <a:prstGeom prst="roundRect">
            <a:avLst>
              <a:gd name="adj" fmla="val 19231"/>
            </a:avLst>
          </a:prstGeom>
          <a:solidFill>
            <a:srgbClr val="6741D9">
              <a:alpha val="20000"/>
            </a:srgbClr>
          </a:solidFill>
          <a:ln w="12700">
            <a:solidFill>
              <a:srgbClr val="6741D9"/>
            </a:solidFill>
            <a:prstDash val="solid"/>
          </a:ln>
        </p:spPr>
      </p:sp>
      <p:sp>
        <p:nvSpPr>
          <p:cNvPr id="37" name="row line 4"/>
          <p:cNvSpPr/>
          <p:nvPr/>
        </p:nvSpPr>
        <p:spPr>
          <a:xfrm>
            <a:off x="1316736" y="5330952"/>
            <a:ext cx="1984248" cy="0"/>
          </a:xfrm>
          <a:prstGeom prst="line">
            <a:avLst/>
          </a:prstGeom>
          <a:noFill/>
          <a:ln w="9525">
            <a:solidFill>
              <a:srgbClr val="E6E9EE"/>
            </a:solidFill>
            <a:prstDash val="solid"/>
          </a:ln>
        </p:spPr>
      </p:sp>
      <p:sp>
        <p:nvSpPr>
          <p:cNvPr id="38" name="row title 5"/>
          <p:cNvSpPr/>
          <p:nvPr/>
        </p:nvSpPr>
        <p:spPr>
          <a:xfrm>
            <a:off x="1316736" y="5440680"/>
            <a:ext cx="1242212" cy="91440"/>
          </a:xfrm>
          <a:prstGeom prst="rect">
            <a:avLst/>
          </a:prstGeom>
          <a:solidFill>
            <a:srgbClr val="9AA5B1"/>
          </a:solidFill>
          <a:ln w="12700">
            <a:solidFill>
              <a:srgbClr val="9AA5B1"/>
            </a:solidFill>
            <a:prstDash val="solid"/>
          </a:ln>
        </p:spPr>
      </p:sp>
      <p:sp>
        <p:nvSpPr>
          <p:cNvPr id="39" name="row detail 5"/>
          <p:cNvSpPr/>
          <p:nvPr/>
        </p:nvSpPr>
        <p:spPr>
          <a:xfrm>
            <a:off x="1316736" y="5605272"/>
            <a:ext cx="858256" cy="64008"/>
          </a:xfrm>
          <a:prstGeom prst="rect">
            <a:avLst/>
          </a:prstGeom>
          <a:solidFill>
            <a:srgbClr val="D5DAE0"/>
          </a:solidFill>
          <a:ln w="12700">
            <a:solidFill>
              <a:srgbClr val="D5DAE0"/>
            </a:solidFill>
            <a:prstDash val="solid"/>
          </a:ln>
        </p:spPr>
      </p:sp>
      <p:sp>
        <p:nvSpPr>
          <p:cNvPr id="40" name="row button 5"/>
          <p:cNvSpPr/>
          <p:nvPr/>
        </p:nvSpPr>
        <p:spPr>
          <a:xfrm>
            <a:off x="2871216" y="5422392"/>
            <a:ext cx="438912" cy="237744"/>
          </a:xfrm>
          <a:prstGeom prst="roundRect">
            <a:avLst>
              <a:gd name="adj" fmla="val 19231"/>
            </a:avLst>
          </a:prstGeom>
          <a:solidFill>
            <a:srgbClr val="6741D9">
              <a:alpha val="20000"/>
            </a:srgbClr>
          </a:solidFill>
          <a:ln w="12700">
            <a:solidFill>
              <a:srgbClr val="6741D9"/>
            </a:solidFill>
            <a:prstDash val="solid"/>
          </a:ln>
        </p:spPr>
      </p:sp>
      <p:sp>
        <p:nvSpPr>
          <p:cNvPr id="41" name="framestand circle"/>
          <p:cNvSpPr/>
          <p:nvPr/>
        </p:nvSpPr>
        <p:spPr>
          <a:xfrm>
            <a:off x="4297680" y="1627632"/>
            <a:ext cx="502920" cy="502920"/>
          </a:xfrm>
          <a:prstGeom prst="ellipse">
            <a:avLst/>
          </a:prstGeom>
          <a:solidFill>
            <a:srgbClr val="6741D9">
              <a:alpha val="15000"/>
            </a:srgbClr>
          </a:solidFill>
          <a:ln w="12700">
            <a:solidFill>
              <a:srgbClr val="6741D9"/>
            </a:solidFill>
            <a:prstDash val="solid"/>
          </a:ln>
        </p:spPr>
      </p:sp>
      <p:pic>
        <p:nvPicPr>
          <p:cNvPr id="42" name="framestand icon" descr="TFrameStand page stack"/>
          <p:cNvPicPr>
            <a:picLocks noChangeAspect="1"/>
          </p:cNvPicPr>
          <p:nvPr/>
        </p:nvPicPr>
        <p:blipFill>
          <a:blip r:embed="rId8"/>
          <a:stretch>
            <a:fillRect/>
          </a:stretch>
        </p:blipFill>
        <p:spPr>
          <a:xfrm>
            <a:off x="4407408" y="1737360"/>
            <a:ext cx="283464" cy="283464"/>
          </a:xfrm>
          <a:prstGeom prst="rect">
            <a:avLst/>
          </a:prstGeom>
        </p:spPr>
      </p:pic>
      <p:sp>
        <p:nvSpPr>
          <p:cNvPr id="43" name="framestand text"/>
          <p:cNvSpPr txBox="1"/>
          <p:nvPr/>
        </p:nvSpPr>
        <p:spPr>
          <a:xfrm>
            <a:off x="5029200" y="1600200"/>
            <a:ext cx="6583680" cy="91440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TFrameStand page stack</a:t>
            </a:r>
            <a:endParaRPr lang="en-US" sz="1700" dirty="0"/>
          </a:p>
          <a:p>
            <a:pPr marL="0" indent="0">
              <a:spcAft>
                <a:spcPts val="200"/>
              </a:spcAft>
              <a:buNone/>
            </a:pPr>
            <a:r>
              <a:rPr lang="en-US" sz="1400" dirty="0">
                <a:solidFill>
                  <a:srgbClr val="4A5560"/>
                </a:solidFill>
              </a:rPr>
              <a:t>The customer list is the base page. Every other screen is a frame on top, closed with Back or the Android back key.</a:t>
            </a:r>
            <a:endParaRPr lang="en-US" sz="1700" dirty="0"/>
          </a:p>
        </p:txBody>
      </p:sp>
      <p:sp>
        <p:nvSpPr>
          <p:cNvPr id="44" name="async circle"/>
          <p:cNvSpPr/>
          <p:nvPr/>
        </p:nvSpPr>
        <p:spPr>
          <a:xfrm>
            <a:off x="4297680" y="2770632"/>
            <a:ext cx="502920" cy="502920"/>
          </a:xfrm>
          <a:prstGeom prst="ellipse">
            <a:avLst/>
          </a:prstGeom>
          <a:solidFill>
            <a:srgbClr val="6741D9">
              <a:alpha val="15000"/>
            </a:srgbClr>
          </a:solidFill>
          <a:ln w="12700">
            <a:solidFill>
              <a:srgbClr val="6741D9"/>
            </a:solidFill>
            <a:prstDash val="solid"/>
          </a:ln>
        </p:spPr>
      </p:sp>
      <p:pic>
        <p:nvPicPr>
          <p:cNvPr id="45" name="async icon" descr="TAsync.Run&lt;T&gt;"/>
          <p:cNvPicPr>
            <a:picLocks noChangeAspect="1"/>
          </p:cNvPicPr>
          <p:nvPr/>
        </p:nvPicPr>
        <p:blipFill>
          <a:blip r:embed="rId9"/>
          <a:stretch>
            <a:fillRect/>
          </a:stretch>
        </p:blipFill>
        <p:spPr>
          <a:xfrm>
            <a:off x="4407408" y="2880360"/>
            <a:ext cx="283464" cy="283464"/>
          </a:xfrm>
          <a:prstGeom prst="rect">
            <a:avLst/>
          </a:prstGeom>
        </p:spPr>
      </p:pic>
      <p:sp>
        <p:nvSpPr>
          <p:cNvPr id="46" name="async text"/>
          <p:cNvSpPr txBox="1"/>
          <p:nvPr/>
        </p:nvSpPr>
        <p:spPr>
          <a:xfrm>
            <a:off x="5029200" y="2743200"/>
            <a:ext cx="6583680" cy="91440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TAsync.Run&lt;T&gt;</a:t>
            </a:r>
            <a:endParaRPr lang="en-US" sz="1700" dirty="0"/>
          </a:p>
          <a:p>
            <a:pPr marL="0" indent="0">
              <a:spcAft>
                <a:spcPts val="200"/>
              </a:spcAft>
              <a:buNone/>
            </a:pPr>
            <a:r>
              <a:rPr lang="en-US" sz="1400" dirty="0">
                <a:solidFill>
                  <a:srgbClr val="4A5560"/>
                </a:solidFill>
              </a:rPr>
              <a:t>REST calls run on a pool thread; the answer comes back on the UI thread only if the frame is still open.</a:t>
            </a:r>
            <a:endParaRPr lang="en-US" sz="1700" dirty="0"/>
          </a:p>
        </p:txBody>
      </p:sp>
      <p:sp>
        <p:nvSpPr>
          <p:cNvPr id="47" name="icons circle"/>
          <p:cNvSpPr/>
          <p:nvPr/>
        </p:nvSpPr>
        <p:spPr>
          <a:xfrm>
            <a:off x="4297680" y="3913632"/>
            <a:ext cx="502920" cy="502920"/>
          </a:xfrm>
          <a:prstGeom prst="ellipse">
            <a:avLst/>
          </a:prstGeom>
          <a:solidFill>
            <a:srgbClr val="6741D9">
              <a:alpha val="15000"/>
            </a:srgbClr>
          </a:solidFill>
          <a:ln w="12700">
            <a:solidFill>
              <a:srgbClr val="6741D9"/>
            </a:solidFill>
            <a:prstDash val="solid"/>
          </a:ln>
        </p:spPr>
      </p:sp>
      <p:pic>
        <p:nvPicPr>
          <p:cNvPr id="48" name="icons icon" descr="Vector icons"/>
          <p:cNvPicPr>
            <a:picLocks noChangeAspect="1"/>
          </p:cNvPicPr>
          <p:nvPr/>
        </p:nvPicPr>
        <p:blipFill>
          <a:blip r:embed="rId10"/>
          <a:stretch>
            <a:fillRect/>
          </a:stretch>
        </p:blipFill>
        <p:spPr>
          <a:xfrm>
            <a:off x="4407408" y="4023360"/>
            <a:ext cx="283464" cy="283464"/>
          </a:xfrm>
          <a:prstGeom prst="rect">
            <a:avLst/>
          </a:prstGeom>
        </p:spPr>
      </p:pic>
      <p:sp>
        <p:nvSpPr>
          <p:cNvPr id="49" name="icons text"/>
          <p:cNvSpPr txBox="1"/>
          <p:nvPr/>
        </p:nvSpPr>
        <p:spPr>
          <a:xfrm>
            <a:off x="5029200" y="3886200"/>
            <a:ext cx="6583680" cy="91440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Vector icons</a:t>
            </a:r>
            <a:endParaRPr lang="en-US" sz="1700" dirty="0"/>
          </a:p>
          <a:p>
            <a:pPr marL="0" indent="0">
              <a:spcAft>
                <a:spcPts val="200"/>
              </a:spcAft>
              <a:buNone/>
            </a:pPr>
            <a:r>
              <a:rPr lang="en-US" sz="1400" dirty="0">
                <a:solidFill>
                  <a:srgbClr val="4A5560"/>
                </a:solidFill>
              </a:rPr>
              <a:t>Material Design paths in a TPath: sharp at any screen density, coloured from the style.</a:t>
            </a:r>
            <a:endParaRPr lang="en-US" sz="1700" dirty="0"/>
          </a:p>
        </p:txBody>
      </p:sp>
      <p:sp>
        <p:nvSpPr>
          <p:cNvPr id="50" name="native circle"/>
          <p:cNvSpPr/>
          <p:nvPr/>
        </p:nvSpPr>
        <p:spPr>
          <a:xfrm>
            <a:off x="4297680" y="5056632"/>
            <a:ext cx="502920" cy="502920"/>
          </a:xfrm>
          <a:prstGeom prst="ellipse">
            <a:avLst/>
          </a:prstGeom>
          <a:solidFill>
            <a:srgbClr val="6741D9">
              <a:alpha val="15000"/>
            </a:srgbClr>
          </a:solidFill>
          <a:ln w="12700">
            <a:solidFill>
              <a:srgbClr val="6741D9"/>
            </a:solidFill>
            <a:prstDash val="solid"/>
          </a:ln>
        </p:spPr>
      </p:sp>
      <p:pic>
        <p:nvPicPr>
          <p:cNvPr id="51" name="native icon" descr="Built for the phone"/>
          <p:cNvPicPr>
            <a:picLocks noChangeAspect="1"/>
          </p:cNvPicPr>
          <p:nvPr/>
        </p:nvPicPr>
        <p:blipFill>
          <a:blip r:embed="rId11"/>
          <a:stretch>
            <a:fillRect/>
          </a:stretch>
        </p:blipFill>
        <p:spPr>
          <a:xfrm>
            <a:off x="4407408" y="5166360"/>
            <a:ext cx="283464" cy="283464"/>
          </a:xfrm>
          <a:prstGeom prst="rect">
            <a:avLst/>
          </a:prstGeom>
        </p:spPr>
      </p:pic>
      <p:sp>
        <p:nvSpPr>
          <p:cNvPr id="52" name="native text"/>
          <p:cNvSpPr txBox="1"/>
          <p:nvPr/>
        </p:nvSpPr>
        <p:spPr>
          <a:xfrm>
            <a:off x="5029200" y="5029200"/>
            <a:ext cx="6583680" cy="914400"/>
          </a:xfrm>
          <a:prstGeom prst="rect">
            <a:avLst/>
          </a:prstGeom>
          <a:noFill/>
          <a:ln/>
        </p:spPr>
        <p:txBody>
          <a:bodyPr wrap="square" lIns="0" tIns="0" rIns="0" bIns="0" rtlCol="0" anchor="t"/>
          <a:lstStyle/>
          <a:p>
            <a:pPr marL="0" indent="0">
              <a:spcAft>
                <a:spcPts val="200"/>
              </a:spcAft>
              <a:buNone/>
            </a:pPr>
            <a:r>
              <a:rPr lang="en-US" sz="1700" b="1" dirty="0">
                <a:solidFill>
                  <a:schemeClr val="tx1"/>
                </a:solidFill>
              </a:rPr>
              <a:t>Built for the phone</a:t>
            </a:r>
            <a:endParaRPr lang="en-US" sz="1700" dirty="0"/>
          </a:p>
          <a:p>
            <a:pPr marL="0" indent="0">
              <a:spcAft>
                <a:spcPts val="200"/>
              </a:spcAft>
              <a:buNone/>
            </a:pPr>
            <a:r>
              <a:rPr lang="en-US" sz="1400" dirty="0">
                <a:solidFill>
                  <a:srgbClr val="4A5560"/>
                </a:solidFill>
              </a:rPr>
              <a:t>Tap to call, email or open the website. The email list follows the current filter, straight to BCC.</a:t>
            </a:r>
            <a:endParaRPr lang="en-US" sz="1700" dirty="0"/>
          </a:p>
        </p:txBody>
      </p:sp>
      <p:sp>
        <p:nvSpPr>
          <p:cNvPr id="53"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theme/theme1.xml><?xml version="1.0" encoding="utf-8"?>
<a:theme xmlns:a="http://schemas.openxmlformats.org/drawingml/2006/main" name="ccCRM">
  <a:themeElements>
    <a:clrScheme name="ccCRM">
      <a:dk1>
        <a:srgbClr val="1A1D23"/>
      </a:dk1>
      <a:lt1>
        <a:srgbClr val="FFFFFF"/>
      </a:lt1>
      <a:dk2>
        <a:srgbClr val="1F2A36"/>
      </a:dk2>
      <a:lt2>
        <a:srgbClr val="F1F3F6"/>
      </a:lt2>
      <a:accent1>
        <a:srgbClr val="E8590C"/>
      </a:accent1>
      <a:accent2>
        <a:srgbClr val="0E7C7B"/>
      </a:accent2>
      <a:accent3>
        <a:srgbClr val="6741D9"/>
      </a:accent3>
      <a:accent4>
        <a:srgbClr val="F59F00"/>
      </a:accent4>
      <a:accent5>
        <a:srgbClr val="868E96"/>
      </a:accent5>
      <a:accent6>
        <a:srgbClr val="2B8A3E"/>
      </a:accent6>
      <a:hlink>
        <a:srgbClr val="0E7C7B"/>
      </a:hlink>
      <a:folHlink>
        <a:srgbClr val="6741D9"/>
      </a:folHlink>
    </a:clrScheme>
    <a:fontScheme name="ccC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1709</Words>
  <Application>Microsoft Office PowerPoint</Application>
  <PresentationFormat>Widescreen</PresentationFormat>
  <Paragraphs>93</Paragraphs>
  <Slides>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Cambria</vt:lpstr>
      <vt:lpstr>Courier New</vt:lpstr>
      <vt:lpstr>ccCRM</vt:lpstr>
      <vt:lpstr>A Custom CRM</vt:lpstr>
      <vt:lpstr>ccCRM: from a collection of notes …            … to an app on my phone.</vt:lpstr>
      <vt:lpstr>Wave API: read-only GraphQL</vt:lpstr>
      <vt:lpstr>RAD Server module: REST over Firebird</vt:lpstr>
      <vt:lpstr>FireMonkey app: the CRM in my pocket</vt:lpstr>
    </vt:vector>
  </TitlesOfParts>
  <Company>Cornelius Concepts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ccCRM: from Wave to my phone</dc:title>
  <dc:subject>PptxGenJS Presentation</dc:subject>
  <dc:creator>David Cornelius</dc:creator>
  <cp:lastModifiedBy>David Cornelius</cp:lastModifiedBy>
  <cp:revision>2</cp:revision>
  <dcterms:created xsi:type="dcterms:W3CDTF">2026-10-21T03:01:54Z</dcterms:created>
  <dcterms:modified xsi:type="dcterms:W3CDTF">2026-10-21T04:10:46Z</dcterms:modified>
</cp:coreProperties>
</file>